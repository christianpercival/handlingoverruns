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5"/>
  </p:notesMasterIdLst>
  <p:sldIdLst>
    <p:sldId id="269" r:id="rId3"/>
    <p:sldId id="257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574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E3B4C"/>
          </a:solidFill>
          <a:ln w="12700">
            <a:solidFill>
              <a:srgbClr val="0E3B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466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47104"/>
            <a:ext cx="1120140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6565392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Handling Execution Overruns • Seminar Project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9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88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9728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Handling Execution</a:t>
            </a:r>
            <a:endParaRPr kumimoji="0" lang="en-US" sz="4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Overruns</a:t>
            </a:r>
            <a:endParaRPr kumimoji="0" lang="en-US" sz="4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D7E4F5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Hard real-time control systems • CBS/CBShd • Prototype simulation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51663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B8C7D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Christian Percival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B8C7D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Electronic Engineering • Hochschule Hamm-Lippstadt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3182112"/>
            <a:ext cx="5577840" cy="0"/>
          </a:xfrm>
          <a:prstGeom prst="line">
            <a:avLst/>
          </a:prstGeom>
          <a:noFill/>
          <a:ln w="25400">
            <a:solidFill>
              <a:srgbClr val="22C8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83880" y="20299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2C8F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83880" y="2377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can a hard real-time system stay safe when a task suddenly needs more execution time than expected?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D7B90"/>
                </a:solidFill>
                <a:effectLst/>
                <a:uLnTx/>
                <a:uFillTx/>
                <a:latin typeface="Apto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D7B90"/>
              </a:solidFill>
              <a:effectLst/>
              <a:uLnTx/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24128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</a:rPr>
              <a:t>What is an execution overrun?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332720" cy="30175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</a:rPr>
              <a:t>A timing problem: the task may still compute the correct result, but it uses more CPU time than the system planned for.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058400" cy="868680"/>
          </a:xfrm>
          <a:prstGeom prst="roundRect">
            <a:avLst/>
          </a:prstGeom>
          <a:solidFill>
            <a:srgbClr val="ECF4FC"/>
          </a:solidFill>
          <a:ln w="15240"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71016"/>
            <a:ext cx="960120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200" b="1">
                <a:solidFill>
                  <a:srgbClr val="1E3A5F"/>
                </a:solidFill>
              </a:rPr>
              <a:t>Overrun = actual execution time exceeds the normal/reserved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719072"/>
            <a:ext cx="612648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0">
                <a:solidFill>
                  <a:srgbClr val="373737"/>
                </a:solidFill>
              </a:rPr>
              <a:t>formal idea:  cᵢ &gt; cᵢⁿ   and   overrun amount = cᵢ − cᵢⁿ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4754880" cy="196596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251960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800" b="1">
                <a:solidFill>
                  <a:srgbClr val="2EA043"/>
                </a:solidFill>
              </a:rPr>
              <a:t>Normal execution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035808"/>
            <a:ext cx="3977639" cy="109728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5840" y="2907792"/>
            <a:ext cx="2240280" cy="384048"/>
          </a:xfrm>
          <a:prstGeom prst="roundRect">
            <a:avLst/>
          </a:prstGeom>
          <a:solidFill>
            <a:srgbClr val="2C7BB6"/>
          </a:solidFill>
          <a:ln w="1524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971800"/>
            <a:ext cx="219456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actual runtime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761488"/>
            <a:ext cx="32004" cy="7315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3511296"/>
            <a:ext cx="987552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373737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420624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00" b="0">
                <a:solidFill>
                  <a:srgbClr val="3C3C3C"/>
                </a:solidFill>
              </a:rPr>
              <a:t>Finishes inside budget → next tasks can run as planned.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240280"/>
            <a:ext cx="5029200" cy="196596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6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2395728"/>
            <a:ext cx="4572000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800" b="1">
                <a:solidFill>
                  <a:srgbClr val="E67E22"/>
                </a:solidFill>
              </a:rPr>
              <a:t>Execution overrun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035808"/>
            <a:ext cx="4206240" cy="109728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89320" y="2907792"/>
            <a:ext cx="2194560" cy="384048"/>
          </a:xfrm>
          <a:prstGeom prst="roundRect">
            <a:avLst/>
          </a:prstGeom>
          <a:solidFill>
            <a:srgbClr val="2C7BB6"/>
          </a:solidFill>
          <a:ln w="1524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83879" y="2907792"/>
            <a:ext cx="1600200" cy="384048"/>
          </a:xfrm>
          <a:prstGeom prst="roundRect">
            <a:avLst/>
          </a:prstGeom>
          <a:solidFill>
            <a:srgbClr val="E67E22"/>
          </a:solidFill>
          <a:ln w="15240">
            <a:solidFill>
              <a:srgbClr val="AA5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971800"/>
            <a:ext cx="205740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normal part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971800"/>
            <a:ext cx="150876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extra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2761488"/>
            <a:ext cx="32004" cy="7315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3511296"/>
            <a:ext cx="987552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373737"/>
                </a:solidFill>
              </a:rPr>
              <a:t>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703320"/>
            <a:ext cx="457200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00" b="0">
                <a:solidFill>
                  <a:srgbClr val="3C3C3C"/>
                </a:solidFill>
              </a:rPr>
              <a:t>Uses CPU time that was not planned → can delay other jobs.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6309360"/>
            <a:ext cx="27432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B232E"/>
                </a:solidFill>
                <a:latin typeface="Aptos"/>
              </a:rPr>
              <a:t>Different ways to handle execution overruns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070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Each method makes a different safety/efficiency tradeoff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078992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423160" cy="3337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33375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527048"/>
            <a:ext cx="213055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Aptos"/>
              </a:rPr>
              <a:t>WCET-based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3" y="1892808"/>
            <a:ext cx="1850285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Reserve enough time for the worst case.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434840"/>
            <a:ext cx="640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56270"/>
                </a:solidFill>
                <a:latin typeface="Aptos"/>
              </a:rPr>
              <a:t>[1][3][4]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423160" cy="3337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417320"/>
            <a:ext cx="73152" cy="3337560"/>
          </a:xfrm>
          <a:prstGeom prst="rect">
            <a:avLst/>
          </a:prstGeom>
          <a:solidFill>
            <a:srgbClr val="D6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527048"/>
            <a:ext cx="213055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Aptos"/>
              </a:rPr>
              <a:t>Normal-only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892808"/>
            <a:ext cx="2008218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Schedule using typical execution time. Good as a fast baseline, but unsafe if hard frames happen in hard real-time.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4434840"/>
            <a:ext cx="640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56270"/>
                </a:solidFill>
                <a:latin typeface="Aptos"/>
              </a:rPr>
              <a:t>[1]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2423160" cy="3337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73152" cy="333756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1527048"/>
            <a:ext cx="213055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Aptos"/>
              </a:rPr>
              <a:t>Fallback / degrade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1" y="1892807"/>
            <a:ext cx="1953621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1B232E"/>
                </a:solidFill>
                <a:latin typeface="Aptos"/>
              </a:rPr>
              <a:t>Use previous result, skip frame, or lower quality. Useful when approximate output is acceptable and safe.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434840"/>
            <a:ext cx="640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56270"/>
                </a:solidFill>
                <a:latin typeface="Aptos"/>
              </a:rPr>
              <a:t>[1][3]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417320"/>
            <a:ext cx="2423160" cy="3337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840" y="1417320"/>
            <a:ext cx="73152" cy="33375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71432" y="1527048"/>
            <a:ext cx="213055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Aptos"/>
              </a:rPr>
              <a:t>CBS / CBShd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1828800"/>
            <a:ext cx="1774736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ZA" sz="1050" b="0" dirty="0">
                <a:solidFill>
                  <a:srgbClr val="1B232E"/>
                </a:solidFill>
                <a:latin typeface="Aptos"/>
              </a:rPr>
              <a:t>(Constand Bandwidth Server)</a:t>
            </a:r>
          </a:p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Reserve bandwidth</a:t>
            </a:r>
            <a:r>
              <a:rPr lang="en-ZA" sz="1050" dirty="0">
                <a:solidFill>
                  <a:srgbClr val="1B232E"/>
                </a:solidFill>
                <a:latin typeface="Aptos"/>
              </a:rPr>
              <a:t> and </a:t>
            </a:r>
            <a:r>
              <a:rPr sz="1050" b="0" dirty="0">
                <a:solidFill>
                  <a:srgbClr val="1B232E"/>
                </a:solidFill>
                <a:latin typeface="Aptos"/>
              </a:rPr>
              <a:t> postpone deadlines when budget is exceeded.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4434840"/>
            <a:ext cx="640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56270"/>
                </a:solidFill>
                <a:latin typeface="Aptos"/>
              </a:rPr>
              <a:t>[1][2]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796" y="5166360"/>
            <a:ext cx="10554491" cy="3139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800" b="1" dirty="0">
                <a:solidFill>
                  <a:srgbClr val="1B232E"/>
                </a:solidFill>
                <a:latin typeface="Aptos"/>
              </a:rPr>
              <a:t>Key: choose the handler according to task criticality, dependency, and acceptable performance loss.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53035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556270"/>
                </a:solidFill>
                <a:latin typeface="Aptos"/>
              </a:rPr>
              <a:t>Handling Execution Overruns • Seminar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6537960"/>
            <a:ext cx="5212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 dirty="0">
                <a:solidFill>
                  <a:srgbClr val="556270"/>
                </a:solidFill>
                <a:latin typeface="Aptos"/>
              </a:rPr>
              <a:t>Christian Percival • Hochschule Hamm-Lippstadt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37960"/>
            <a:ext cx="22860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B232E"/>
                </a:solidFill>
                <a:latin typeface="Aptos"/>
              </a:rPr>
              <a:t>Optimal idea: isolate the overrun, do not let it spread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070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CBS/CBShd intuition: budget, bandwidth, and controlled deadline postponement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078992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008756" y="3542016"/>
            <a:ext cx="3749039" cy="14173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08756" y="3542016"/>
            <a:ext cx="73152" cy="1417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73348" y="3651744"/>
            <a:ext cx="345643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B232E"/>
                </a:solidFill>
                <a:latin typeface="Aptos"/>
              </a:rPr>
              <a:t>Processor bandwidth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3348" y="4017504"/>
            <a:ext cx="3456432" cy="8503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1B232E"/>
                </a:solidFill>
                <a:latin typeface="Aptos"/>
              </a:rPr>
              <a:t>Qₛ = CPU budget
Tₛ = server period
Uₛ = Qₛ / Tₛ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6494" y="3542016"/>
            <a:ext cx="3749039" cy="14173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36494" y="3542016"/>
            <a:ext cx="73152" cy="14173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1086" y="3651744"/>
            <a:ext cx="345643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B232E"/>
                </a:solidFill>
                <a:latin typeface="Aptos"/>
              </a:rPr>
              <a:t>In my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1086" y="4017504"/>
            <a:ext cx="3456432" cy="8503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1B232E"/>
                </a:solidFill>
                <a:latin typeface="Aptos"/>
              </a:rPr>
              <a:t>Qₛ = 0.5 ms, Tₛ = 2 ms
Uₛ = 0.25 → 25% image-task bandwidth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18288" y="2240280"/>
            <a:ext cx="1133856" cy="6858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45720" y="2487044"/>
            <a:ext cx="1078992" cy="18312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Task starts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3752144" y="2587752"/>
            <a:ext cx="164592" cy="0"/>
          </a:xfrm>
          <a:prstGeom prst="line">
            <a:avLst/>
          </a:prstGeom>
          <a:ln w="15240">
            <a:solidFill>
              <a:srgbClr val="55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916736" y="2240280"/>
            <a:ext cx="1133856" cy="685800"/>
          </a:xfrm>
          <a:prstGeom prst="round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44168" y="2487044"/>
            <a:ext cx="1078992" cy="18312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Budget used?</a:t>
            </a: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>
            <a:off x="5050591" y="2587752"/>
            <a:ext cx="164593" cy="0"/>
          </a:xfrm>
          <a:prstGeom prst="line">
            <a:avLst/>
          </a:prstGeom>
          <a:ln w="15240">
            <a:solidFill>
              <a:srgbClr val="55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15184" y="2240280"/>
            <a:ext cx="1133856" cy="685800"/>
          </a:xfrm>
          <a:prstGeom prst="roundRect">
            <a:avLst/>
          </a:prstGeom>
          <a:solidFill>
            <a:srgbClr val="D6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42616" y="2487044"/>
            <a:ext cx="1078992" cy="18312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If exhausted</a:t>
            </a:r>
          </a:p>
        </p:txBody>
      </p:sp>
      <p:cxnSp>
        <p:nvCxnSpPr>
          <p:cNvPr id="21" name="Connector 20"/>
          <p:cNvCxnSpPr>
            <a:cxnSpLocks/>
          </p:cNvCxnSpPr>
          <p:nvPr/>
        </p:nvCxnSpPr>
        <p:spPr>
          <a:xfrm>
            <a:off x="6349040" y="2587752"/>
            <a:ext cx="164592" cy="0"/>
          </a:xfrm>
          <a:prstGeom prst="line">
            <a:avLst/>
          </a:prstGeom>
          <a:ln w="15240">
            <a:solidFill>
              <a:srgbClr val="55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13631" y="2240280"/>
            <a:ext cx="1133856" cy="685800"/>
          </a:xfrm>
          <a:prstGeom prst="round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1063" y="2413947"/>
            <a:ext cx="1078992" cy="32932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Postpone deadline</a:t>
            </a:r>
          </a:p>
        </p:txBody>
      </p:sp>
      <p:cxnSp>
        <p:nvCxnSpPr>
          <p:cNvPr id="24" name="Connector 23"/>
          <p:cNvCxnSpPr>
            <a:cxnSpLocks/>
          </p:cNvCxnSpPr>
          <p:nvPr/>
        </p:nvCxnSpPr>
        <p:spPr>
          <a:xfrm>
            <a:off x="7647487" y="2587752"/>
            <a:ext cx="164592" cy="0"/>
          </a:xfrm>
          <a:prstGeom prst="line">
            <a:avLst/>
          </a:prstGeom>
          <a:ln w="15240">
            <a:solidFill>
              <a:srgbClr val="55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812094" y="2240280"/>
            <a:ext cx="1359694" cy="68580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1664" y="2413947"/>
            <a:ext cx="1078992" cy="32932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Other tasks protected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66360"/>
            <a:ext cx="10241280" cy="4114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900" b="1">
                <a:solidFill>
                  <a:srgbClr val="FF7F0E"/>
                </a:solidFill>
                <a:latin typeface="Aptos"/>
              </a:rPr>
              <a:t>The overrun is not eliminated — it is isolated and paid for by the overrunning task.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06440"/>
            <a:ext cx="10789920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556270"/>
                </a:solidFill>
                <a:latin typeface="Aptos"/>
              </a:rPr>
              <a:t>Sources: Caccamo et al. describe local overrun handling and CBShd; Abeni &amp; Buttazzo introduce CBS resource reservation. [1][2]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53035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556270"/>
                </a:solidFill>
                <a:latin typeface="Aptos"/>
              </a:rPr>
              <a:t>Handling Execution Overruns • Seminar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537960"/>
            <a:ext cx="5212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Christian Percival • Hochschule Hamm-Lippstadt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37960"/>
            <a:ext cx="22860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4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2FD54A8-69A7-3EDB-B1C9-943B8858A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166" y="1138572"/>
            <a:ext cx="5575425" cy="9664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9076011" cy="49859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 dirty="0">
                <a:solidFill>
                  <a:srgbClr val="1B232E"/>
                </a:solidFill>
                <a:latin typeface="Aptos"/>
              </a:rPr>
              <a:t>What I implemented: </a:t>
            </a:r>
            <a:r>
              <a:rPr lang="en-ZA" sz="3000" b="1" dirty="0">
                <a:solidFill>
                  <a:srgbClr val="1B232E"/>
                </a:solidFill>
                <a:latin typeface="Aptos"/>
              </a:rPr>
              <a:t>V</a:t>
            </a:r>
            <a:r>
              <a:rPr sz="3000" b="1" dirty="0" err="1">
                <a:solidFill>
                  <a:srgbClr val="1B232E"/>
                </a:solidFill>
                <a:latin typeface="Aptos"/>
              </a:rPr>
              <a:t>isual</a:t>
            </a:r>
            <a:r>
              <a:rPr sz="3000" b="1" dirty="0">
                <a:solidFill>
                  <a:srgbClr val="1B232E"/>
                </a:solidFill>
                <a:latin typeface="Aptos"/>
              </a:rPr>
              <a:t>-tracking </a:t>
            </a:r>
            <a:r>
              <a:rPr lang="en-ZA" sz="3000" b="1" dirty="0">
                <a:solidFill>
                  <a:srgbClr val="1B232E"/>
                </a:solidFill>
                <a:latin typeface="Aptos"/>
              </a:rPr>
              <a:t>O</a:t>
            </a:r>
            <a:r>
              <a:rPr sz="3000" b="1" dirty="0" err="1">
                <a:solidFill>
                  <a:srgbClr val="1B232E"/>
                </a:solidFill>
                <a:latin typeface="Aptos"/>
              </a:rPr>
              <a:t>verrun</a:t>
            </a:r>
            <a:r>
              <a:rPr sz="3000" b="1" dirty="0">
                <a:solidFill>
                  <a:srgbClr val="1B232E"/>
                </a:solidFill>
                <a:latin typeface="Aptos"/>
              </a:rPr>
              <a:t> </a:t>
            </a:r>
            <a:r>
              <a:rPr lang="en-ZA" sz="3000" b="1" dirty="0">
                <a:solidFill>
                  <a:srgbClr val="1B232E"/>
                </a:solidFill>
                <a:latin typeface="Aptos"/>
              </a:rPr>
              <a:t>D</a:t>
            </a:r>
            <a:r>
              <a:rPr sz="3000" b="1" dirty="0">
                <a:solidFill>
                  <a:srgbClr val="1B232E"/>
                </a:solidFill>
                <a:latin typeface="Aptos"/>
              </a:rPr>
              <a:t>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070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A small image-processing task creates controlled normal, hard, and worst-case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078992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645920" cy="82296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554480" cy="59436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Generate
images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" y="1737360"/>
            <a:ext cx="502920" cy="0"/>
          </a:xfrm>
          <a:prstGeom prst="line">
            <a:avLst/>
          </a:prstGeom>
          <a:ln w="17780">
            <a:solidFill>
              <a:srgbClr val="55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26080" y="1325880"/>
            <a:ext cx="1645920" cy="82296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1417320"/>
            <a:ext cx="1554480" cy="59436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Small
window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1737360"/>
            <a:ext cx="502920" cy="0"/>
          </a:xfrm>
          <a:prstGeom prst="line">
            <a:avLst/>
          </a:prstGeom>
          <a:ln w="17780">
            <a:solidFill>
              <a:srgbClr val="55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325880"/>
            <a:ext cx="1645920" cy="822960"/>
          </a:xfrm>
          <a:prstGeom prst="round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1417320"/>
            <a:ext cx="1554480" cy="59436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Medium
window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20840" y="1737360"/>
            <a:ext cx="502920" cy="0"/>
          </a:xfrm>
          <a:prstGeom prst="line">
            <a:avLst/>
          </a:prstGeom>
          <a:ln w="17780">
            <a:solidFill>
              <a:srgbClr val="55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23760" y="1325880"/>
            <a:ext cx="1645920" cy="822960"/>
          </a:xfrm>
          <a:prstGeom prst="round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1417320"/>
            <a:ext cx="1554480" cy="59436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Full image
search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0" y="1737360"/>
            <a:ext cx="502920" cy="0"/>
          </a:xfrm>
          <a:prstGeom prst="line">
            <a:avLst/>
          </a:prstGeom>
          <a:ln w="17780">
            <a:solidFill>
              <a:srgbClr val="55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72600" y="1325880"/>
            <a:ext cx="1645920" cy="822960"/>
          </a:xfrm>
          <a:prstGeom prst="roundRect">
            <a:avLst/>
          </a:prstGeom>
          <a:solidFill>
            <a:srgbClr val="D6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1417320"/>
            <a:ext cx="1554480" cy="59436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Measure
runtime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34640"/>
            <a:ext cx="2286000" cy="19659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2834640"/>
            <a:ext cx="73152" cy="19659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2944368"/>
            <a:ext cx="199339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B232E"/>
                </a:solidFill>
                <a:latin typeface="Aptos"/>
              </a:rPr>
              <a:t>Easy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3318754"/>
            <a:ext cx="1715104" cy="6370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dirty="0">
                <a:solidFill>
                  <a:srgbClr val="1B232E"/>
                </a:solidFill>
                <a:latin typeface="Aptos"/>
              </a:rPr>
              <a:t>Object found in small predicted window
≈ 0.15 </a:t>
            </a:r>
            <a:r>
              <a:rPr sz="1300" b="0" dirty="0" err="1">
                <a:solidFill>
                  <a:srgbClr val="1B232E"/>
                </a:solidFill>
                <a:latin typeface="Aptos"/>
              </a:rPr>
              <a:t>ms</a:t>
            </a:r>
            <a:r>
              <a:rPr sz="1300" b="0" dirty="0">
                <a:solidFill>
                  <a:srgbClr val="1B232E"/>
                </a:solidFill>
                <a:latin typeface="Aptos"/>
              </a:rPr>
              <a:t> average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834640"/>
            <a:ext cx="2286000" cy="19659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37560" y="2834640"/>
            <a:ext cx="73152" cy="196596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02152" y="2944368"/>
            <a:ext cx="199339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B232E"/>
                </a:solidFill>
                <a:latin typeface="Aptos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3310128"/>
            <a:ext cx="1993392" cy="1399031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 dirty="0">
                <a:solidFill>
                  <a:srgbClr val="1B232E"/>
                </a:solidFill>
                <a:latin typeface="Aptos"/>
              </a:rPr>
              <a:t>Expanded search window
≈ 0.35 </a:t>
            </a:r>
            <a:r>
              <a:rPr sz="1300" b="0" dirty="0" err="1">
                <a:solidFill>
                  <a:srgbClr val="1B232E"/>
                </a:solidFill>
                <a:latin typeface="Aptos"/>
              </a:rPr>
              <a:t>ms</a:t>
            </a:r>
            <a:r>
              <a:rPr sz="1300" b="0" dirty="0">
                <a:solidFill>
                  <a:srgbClr val="1B232E"/>
                </a:solidFill>
                <a:latin typeface="Aptos"/>
              </a:rPr>
              <a:t> average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2834640"/>
            <a:ext cx="2286000" cy="19659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97880" y="2834640"/>
            <a:ext cx="73152" cy="19659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62472" y="2944368"/>
            <a:ext cx="199339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B232E"/>
                </a:solidFill>
                <a:latin typeface="Aptos"/>
              </a:rPr>
              <a:t>Hard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3310128"/>
            <a:ext cx="1993392" cy="1399031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1B232E"/>
                </a:solidFill>
                <a:latin typeface="Aptos"/>
              </a:rPr>
              <a:t>Full-image search path
≈ 8.00 ms average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200" y="2834640"/>
            <a:ext cx="2286000" cy="19659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458200" y="2834640"/>
            <a:ext cx="73152" cy="1965960"/>
          </a:xfrm>
          <a:prstGeom prst="rect">
            <a:avLst/>
          </a:prstGeom>
          <a:solidFill>
            <a:srgbClr val="D6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22792" y="2944368"/>
            <a:ext cx="199339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B232E"/>
                </a:solidFill>
                <a:latin typeface="Aptos"/>
              </a:rPr>
              <a:t>Missing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2792" y="3310128"/>
            <a:ext cx="1668521" cy="6370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dirty="0">
                <a:solidFill>
                  <a:srgbClr val="1B232E"/>
                </a:solidFill>
                <a:latin typeface="Aptos"/>
              </a:rPr>
              <a:t>Full image searched; object not found
≈ 7.82 </a:t>
            </a:r>
            <a:r>
              <a:rPr sz="1300" b="0" dirty="0" err="1">
                <a:solidFill>
                  <a:srgbClr val="1B232E"/>
                </a:solidFill>
                <a:latin typeface="Aptos"/>
              </a:rPr>
              <a:t>ms</a:t>
            </a:r>
            <a:r>
              <a:rPr sz="1300" b="0" dirty="0">
                <a:solidFill>
                  <a:srgbClr val="1B232E"/>
                </a:solidFill>
                <a:latin typeface="Aptos"/>
              </a:rPr>
              <a:t> average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349240"/>
            <a:ext cx="1042416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700" b="1" dirty="0">
                <a:solidFill>
                  <a:srgbClr val="1B232E"/>
                </a:solidFill>
                <a:latin typeface="Aptos"/>
              </a:rPr>
              <a:t>Important: this is a timing simulation, not a kernel-level CBS implementation.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37960"/>
            <a:ext cx="53035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556270"/>
                </a:solidFill>
                <a:latin typeface="Aptos"/>
              </a:rPr>
              <a:t>Handling Execution Overruns • Seminar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537960"/>
            <a:ext cx="5212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Christian Percival • Hochschule Hamm-Lippstadt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37960"/>
            <a:ext cx="22860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B232E"/>
                </a:solidFill>
                <a:latin typeface="Aptos"/>
              </a:rPr>
              <a:t>Implementation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070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Five scripts generate the workload, measure runtimes, and simulate handling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078992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384048" cy="384048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384048" cy="33832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25296"/>
            <a:ext cx="292608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Aptos"/>
              </a:rPr>
              <a:t>generate_images.py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225296"/>
            <a:ext cx="676656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Creates 1920×1080 easy / medium / hard / missing 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39112"/>
            <a:ext cx="384048" cy="384048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1"/>
            <a:ext cx="384048" cy="33832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29968"/>
            <a:ext cx="292608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Aptos"/>
              </a:rPr>
              <a:t>overrun_demo.py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29968"/>
            <a:ext cx="676656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Searches for red object and logs execution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843784"/>
            <a:ext cx="384048" cy="384048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889504"/>
            <a:ext cx="384048" cy="33832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834640"/>
            <a:ext cx="292608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Aptos"/>
              </a:rPr>
              <a:t>plot_results.py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34640"/>
            <a:ext cx="676656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Creates workload and overrun plots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48456"/>
            <a:ext cx="384048" cy="384048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694176"/>
            <a:ext cx="384048" cy="33832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639312"/>
            <a:ext cx="292608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Aptos"/>
              </a:rPr>
              <a:t>scheduler_simulation.py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639312"/>
            <a:ext cx="676656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Compares WCET, NormalOnly, and OverrunHandled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53128"/>
            <a:ext cx="384048" cy="384048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498848"/>
            <a:ext cx="384048" cy="33832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443984"/>
            <a:ext cx="292608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Aptos"/>
              </a:rPr>
              <a:t>cpu_timeline_single_frame.py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443984"/>
            <a:ext cx="676656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Visualizes NormalOnly, WCET, CBS, and CBShd behavior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53035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556270"/>
                </a:solidFill>
                <a:latin typeface="Aptos"/>
              </a:rPr>
              <a:t>Handling Execution Overruns • Seminar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6537960"/>
            <a:ext cx="5212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Christian Percival • Hochschule Hamm-Lippstadt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537960"/>
            <a:ext cx="22860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B232E"/>
                </a:solidFill>
                <a:latin typeface="Aptos"/>
              </a:rPr>
              <a:t>Measured workload: runtime depends on input difficulty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070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This is where the execution overruns come from in the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078992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9202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900" b="1">
                <a:solidFill>
                  <a:srgbClr val="2CA02C"/>
                </a:solidFill>
                <a:latin typeface="Aptos"/>
              </a:rPr>
              <a:t>0.15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92024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556270"/>
                </a:solidFill>
                <a:latin typeface="Aptos"/>
              </a:rPr>
              <a:t>easy avg.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5440680"/>
            <a:ext cx="19202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900" b="1" dirty="0">
                <a:solidFill>
                  <a:srgbClr val="FF7F0E"/>
                </a:solidFill>
                <a:latin typeface="Aptos"/>
              </a:rPr>
              <a:t>8.00 </a:t>
            </a:r>
            <a:r>
              <a:rPr sz="1900" b="1" dirty="0" err="1">
                <a:solidFill>
                  <a:srgbClr val="FF7F0E"/>
                </a:solidFill>
                <a:latin typeface="Aptos"/>
              </a:rPr>
              <a:t>ms</a:t>
            </a:r>
            <a:endParaRPr sz="1900" b="1" dirty="0">
              <a:solidFill>
                <a:srgbClr val="FF7F0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80360" y="5760720"/>
            <a:ext cx="192024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556270"/>
                </a:solidFill>
                <a:latin typeface="Aptos"/>
              </a:rPr>
              <a:t>hard avg.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5440680"/>
            <a:ext cx="19202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900" b="1">
                <a:solidFill>
                  <a:srgbClr val="D64541"/>
                </a:solidFill>
                <a:latin typeface="Aptos"/>
              </a:rPr>
              <a:t>7.82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760720"/>
            <a:ext cx="192024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556270"/>
                </a:solidFill>
                <a:latin typeface="Aptos"/>
              </a:rPr>
              <a:t>missing avg.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5440680"/>
            <a:ext cx="19202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900" b="1" dirty="0">
                <a:solidFill>
                  <a:srgbClr val="1F77B4"/>
                </a:solidFill>
                <a:latin typeface="Aptos"/>
              </a:rPr>
              <a:t>12.75 </a:t>
            </a:r>
            <a:r>
              <a:rPr sz="1900" b="1" dirty="0" err="1">
                <a:solidFill>
                  <a:srgbClr val="1F77B4"/>
                </a:solidFill>
                <a:latin typeface="Aptos"/>
              </a:rPr>
              <a:t>ms</a:t>
            </a:r>
            <a:endParaRPr sz="1900" b="1" dirty="0">
              <a:solidFill>
                <a:srgbClr val="1F77B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60920" y="5760720"/>
            <a:ext cx="192024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556270"/>
                </a:solidFill>
                <a:latin typeface="Aptos"/>
              </a:rPr>
              <a:t>measured WCET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5440680"/>
            <a:ext cx="19202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900" b="1">
                <a:solidFill>
                  <a:srgbClr val="9467BD"/>
                </a:solidFill>
                <a:latin typeface="Aptos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5760720"/>
            <a:ext cx="192024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556270"/>
                </a:solidFill>
                <a:latin typeface="Aptos"/>
              </a:rPr>
              <a:t>hard/missing overruns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53035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556270"/>
                </a:solidFill>
                <a:latin typeface="Aptos"/>
              </a:rPr>
              <a:t>Handling Execution Overruns • Seminar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6537960"/>
            <a:ext cx="5212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Christian Percival • Hochschule Hamm-Lippstadt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37960"/>
            <a:ext cx="22860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7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E5CE9ED-EAF6-BAD4-AC71-8C9D3200E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460" y="1229868"/>
            <a:ext cx="5242560" cy="39319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FAA10F6-F8B5-2F41-2CC7-3E7CFA944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1197855"/>
            <a:ext cx="5676900" cy="4257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B232E"/>
                </a:solidFill>
                <a:latin typeface="Aptos"/>
              </a:rPr>
              <a:t>Scheduling strategy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070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Same measured runtimes, different scheduling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078992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53035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556270"/>
                </a:solidFill>
                <a:latin typeface="Aptos"/>
              </a:rPr>
              <a:t>Handling Execution Overruns • Seminar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6537960"/>
            <a:ext cx="5212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Christian Percival • Hochschule Hamm-Lippstadt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37960"/>
            <a:ext cx="22860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82DC21-A08D-DC36-7A90-3BF44EF08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68802"/>
            <a:ext cx="5074920" cy="38061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1C6CC2-D237-53C5-7F5C-1663F5167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868802"/>
            <a:ext cx="5148077" cy="386105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A3A1AD-EC07-F1AB-349D-72F6A272F685}"/>
              </a:ext>
            </a:extLst>
          </p:cNvPr>
          <p:cNvSpPr/>
          <p:nvPr/>
        </p:nvSpPr>
        <p:spPr>
          <a:xfrm>
            <a:off x="7142672" y="1868802"/>
            <a:ext cx="2993366" cy="268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18F37D-A95E-C02A-3F17-DED3AC99E02D}"/>
              </a:ext>
            </a:extLst>
          </p:cNvPr>
          <p:cNvSpPr txBox="1"/>
          <p:nvPr/>
        </p:nvSpPr>
        <p:spPr>
          <a:xfrm>
            <a:off x="7142672" y="1868802"/>
            <a:ext cx="2993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Nominal Task Frequency by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B232E"/>
                </a:solidFill>
                <a:latin typeface="Aptos"/>
              </a:rPr>
              <a:t>Conceptual CPU allocation during one overrun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070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The same overrun is treated differently by each handling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078992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meline_conceptual_overrun_hand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11201400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303520"/>
            <a:ext cx="2743200" cy="8686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303520"/>
            <a:ext cx="73152" cy="868680"/>
          </a:xfrm>
          <a:prstGeom prst="rect">
            <a:avLst/>
          </a:prstGeom>
          <a:solidFill>
            <a:srgbClr val="D6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5413248"/>
            <a:ext cx="245059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1B232E"/>
                </a:solidFill>
                <a:latin typeface="Aptos"/>
              </a:rPr>
              <a:t>NormalOnly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96" y="5674941"/>
            <a:ext cx="2332756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Image runs to completion → other work delayed.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5303520"/>
            <a:ext cx="2743200" cy="8686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11880" y="5303520"/>
            <a:ext cx="73152" cy="86868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76472" y="5413248"/>
            <a:ext cx="245059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1B232E"/>
                </a:solidFill>
                <a:latin typeface="Aptos"/>
              </a:rPr>
              <a:t>WCET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5674941"/>
            <a:ext cx="2319528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Safe, but reserves for worst case → unused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5303520"/>
            <a:ext cx="2377440" cy="8686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7960" y="5303520"/>
            <a:ext cx="73152" cy="86868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2552" y="5413248"/>
            <a:ext cx="208483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1B232E"/>
                </a:solidFill>
                <a:latin typeface="Aptos"/>
              </a:rPr>
              <a:t>CBS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5628132"/>
            <a:ext cx="2011680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Controls overrun using budget blocks.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5303520"/>
            <a:ext cx="2377440" cy="8686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5303520"/>
            <a:ext cx="73152" cy="86868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62872" y="5413248"/>
            <a:ext cx="208483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1B232E"/>
                </a:solidFill>
                <a:latin typeface="Aptos"/>
              </a:rPr>
              <a:t>CBShd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1" y="5628132"/>
            <a:ext cx="1874521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Final allocation only matches remaining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53035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556270"/>
                </a:solidFill>
                <a:latin typeface="Aptos"/>
              </a:rPr>
              <a:t>Handling Execution Overruns • Seminar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6537960"/>
            <a:ext cx="5212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Christian Percival • Hochschule Hamm-Lippstadt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37960"/>
            <a:ext cx="22860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B232E"/>
                </a:solidFill>
                <a:latin typeface="Aptos"/>
              </a:rPr>
              <a:t>Which handler is best used where?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070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Handler choice depends on criticality, dependencies, and acceptable delay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078992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37560" cy="18288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18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44168"/>
            <a:ext cx="304495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Aptos"/>
              </a:rPr>
              <a:t>WCET-based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1" y="1709928"/>
            <a:ext cx="2922619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Best for safety-critical or sequentially dependent tasks where the next step must receive a deterministic result. Useful for actuator/control chains and hard end-to-end deadlines.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337560" cy="18288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234440"/>
            <a:ext cx="73152" cy="182880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1344168"/>
            <a:ext cx="304495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Aptos"/>
              </a:rPr>
              <a:t>CBS / CBShd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709928"/>
            <a:ext cx="3044952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Best for variable workloads such as perception, tracking, or mixed criticality tasks where occasional delay is acceptable but interference must be bounded.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234440"/>
            <a:ext cx="3337560" cy="18288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1234440"/>
            <a:ext cx="73152" cy="182880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82712" y="1344168"/>
            <a:ext cx="304495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Aptos"/>
              </a:rPr>
              <a:t>Fallback / degraded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1709928"/>
            <a:ext cx="2839168" cy="5216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Best when the system can safely use previous data, skip a frame, or lower computation quality to keep the control loop alive.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500" y="3566160"/>
            <a:ext cx="320040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800" b="1" dirty="0">
                <a:solidFill>
                  <a:srgbClr val="1B232E"/>
                </a:solidFill>
                <a:latin typeface="Aptos"/>
              </a:rPr>
              <a:t>Important dependency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59" y="4060408"/>
            <a:ext cx="10447021" cy="52937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 dirty="0">
                <a:solidFill>
                  <a:srgbClr val="1B232E"/>
                </a:solidFill>
                <a:latin typeface="Aptos"/>
              </a:rPr>
              <a:t>If Task B cannot run without Task A’s result, overrun handling must be designed for the whole chain: WCET analysis, fallback output, or dedicated CPU/bandwidth may be required.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5284207"/>
            <a:ext cx="6688261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dirty="0">
                <a:solidFill>
                  <a:srgbClr val="556270"/>
                </a:solidFill>
                <a:latin typeface="Aptos"/>
              </a:rPr>
              <a:t>Evidence: WCET-based guarantees are the classical hard real-time approach; CBS provides resource reservation without jeopardizing guaranteed hard tasks; Caccamo et al. use CBS/</a:t>
            </a:r>
            <a:r>
              <a:rPr sz="900" b="0" dirty="0" err="1">
                <a:solidFill>
                  <a:srgbClr val="556270"/>
                </a:solidFill>
                <a:latin typeface="Aptos"/>
              </a:rPr>
              <a:t>CBShd</a:t>
            </a:r>
            <a:r>
              <a:rPr sz="900" b="0" dirty="0">
                <a:solidFill>
                  <a:srgbClr val="556270"/>
                </a:solidFill>
                <a:latin typeface="Aptos"/>
              </a:rPr>
              <a:t> to optimize control performance while maintaining </a:t>
            </a:r>
            <a:r>
              <a:rPr sz="900" b="0" dirty="0" err="1">
                <a:solidFill>
                  <a:srgbClr val="556270"/>
                </a:solidFill>
                <a:latin typeface="Aptos"/>
              </a:rPr>
              <a:t>schedulability</a:t>
            </a:r>
            <a:r>
              <a:rPr sz="900" b="0" dirty="0">
                <a:solidFill>
                  <a:srgbClr val="556270"/>
                </a:solidFill>
                <a:latin typeface="Aptos"/>
              </a:rPr>
              <a:t>. [1][2][3][4]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53035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556270"/>
                </a:solidFill>
                <a:latin typeface="Aptos"/>
              </a:rPr>
              <a:t>Handling Execution Overruns • Seminar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6537960"/>
            <a:ext cx="5212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Christian Percival • Hochschule Hamm-Lippstadt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37960"/>
            <a:ext cx="22860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B232E"/>
                </a:solidFill>
                <a:latin typeface="Aptos"/>
              </a:rPr>
              <a:t>Limitations and connection to FreeRTOS / UPPAAL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070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What the prototype proves — and what it does not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078992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291840" cy="18288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8288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344168"/>
            <a:ext cx="299923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Aptos"/>
              </a:rPr>
              <a:t>What it proves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1" y="1709928"/>
            <a:ext cx="2852929" cy="59093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1B232E"/>
                </a:solidFill>
                <a:latin typeface="Aptos"/>
              </a:rPr>
              <a:t>The same workload leads to very different deadline behavior depending on how the scheduler accounts for overruns.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291840" cy="18288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73152" cy="1828800"/>
          </a:xfrm>
          <a:prstGeom prst="rect">
            <a:avLst/>
          </a:prstGeom>
          <a:solidFill>
            <a:srgbClr val="D6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344168"/>
            <a:ext cx="299923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Aptos"/>
              </a:rPr>
              <a:t>What it does not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1" y="1709928"/>
            <a:ext cx="2761489" cy="59093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dirty="0">
                <a:solidFill>
                  <a:srgbClr val="1B232E"/>
                </a:solidFill>
                <a:latin typeface="Aptos"/>
              </a:rPr>
              <a:t>It is not a kernel-level CBS/</a:t>
            </a:r>
            <a:r>
              <a:rPr sz="1200" b="0" dirty="0" err="1">
                <a:solidFill>
                  <a:srgbClr val="1B232E"/>
                </a:solidFill>
                <a:latin typeface="Aptos"/>
              </a:rPr>
              <a:t>CBShd</a:t>
            </a:r>
            <a:r>
              <a:rPr sz="1200" b="0" dirty="0">
                <a:solidFill>
                  <a:srgbClr val="1B232E"/>
                </a:solidFill>
                <a:latin typeface="Aptos"/>
              </a:rPr>
              <a:t> implementation and does not provide hard real-time guarantees in Python.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291840" cy="18288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8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344168"/>
            <a:ext cx="2999232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Aptos"/>
              </a:rPr>
              <a:t>Course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09928"/>
            <a:ext cx="2926080" cy="59093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1B232E"/>
                </a:solidFill>
                <a:latin typeface="Aptos"/>
              </a:rPr>
              <a:t>FreeRTOS can approximate budget checks using tasks/priorities/delays; UPPAAL can model and verify deadline-miss behavior.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7855" y="3865864"/>
            <a:ext cx="1802929" cy="34471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000" b="1" dirty="0">
                <a:solidFill>
                  <a:srgbClr val="1B232E"/>
                </a:solidFill>
                <a:latin typeface="Aptos"/>
              </a:rPr>
              <a:t>Final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1766" y="4190713"/>
            <a:ext cx="7806319" cy="65248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 dirty="0">
                <a:solidFill>
                  <a:srgbClr val="FF7F0E"/>
                </a:solidFill>
                <a:latin typeface="Aptos"/>
              </a:rPr>
              <a:t>Overruns are not eliminated. They are isolated and accounted for so timing behavior remains controlled.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59" y="4993223"/>
            <a:ext cx="9875520" cy="4572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0">
                <a:solidFill>
                  <a:srgbClr val="1B232E"/>
                </a:solidFill>
                <a:latin typeface="Aptos"/>
              </a:rPr>
              <a:t>Without handling, other tasks pay the cost. With CBS/CBShd, the overrunning task pays through controlled budget/deadline behavior.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53035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556270"/>
                </a:solidFill>
                <a:latin typeface="Aptos"/>
              </a:rPr>
              <a:t>Handling Execution Overruns • Seminar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6537960"/>
            <a:ext cx="5212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Christian Percival • Hochschule Hamm-Lippstadt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37960"/>
            <a:ext cx="22860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B232E"/>
                </a:solidFill>
                <a:latin typeface="Aptos"/>
              </a:rPr>
              <a:t>References supporting the design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070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556270"/>
                </a:solidFill>
                <a:latin typeface="Aptos"/>
              </a:rPr>
              <a:t>Sources behind the claims about where each handler is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078992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34439"/>
            <a:ext cx="7399094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[1] M. Caccamo, G. </a:t>
            </a:r>
            <a:r>
              <a:rPr sz="1050" b="0" dirty="0" err="1">
                <a:solidFill>
                  <a:srgbClr val="1B232E"/>
                </a:solidFill>
                <a:latin typeface="Aptos"/>
              </a:rPr>
              <a:t>Buttazzo</a:t>
            </a:r>
            <a:r>
              <a:rPr sz="1050" b="0" dirty="0">
                <a:solidFill>
                  <a:srgbClr val="1B232E"/>
                </a:solidFill>
                <a:latin typeface="Aptos"/>
              </a:rPr>
              <a:t>, L. Sha, “Handling Execution Overruns in Hard Real-Time Control Systems,” IEEE Transactions on Computers, 2002. — Main source for local overrun handling, </a:t>
            </a:r>
            <a:r>
              <a:rPr sz="1050" b="0" dirty="0" err="1">
                <a:solidFill>
                  <a:srgbClr val="1B232E"/>
                </a:solidFill>
                <a:latin typeface="Aptos"/>
              </a:rPr>
              <a:t>CBShd</a:t>
            </a:r>
            <a:r>
              <a:rPr sz="1050" b="0" dirty="0">
                <a:solidFill>
                  <a:srgbClr val="1B232E"/>
                </a:solidFill>
                <a:latin typeface="Aptos"/>
              </a:rPr>
              <a:t>, control performance, and </a:t>
            </a:r>
            <a:r>
              <a:rPr sz="1050" b="0" dirty="0" err="1">
                <a:solidFill>
                  <a:srgbClr val="1B232E"/>
                </a:solidFill>
                <a:latin typeface="Aptos"/>
              </a:rPr>
              <a:t>schedulability</a:t>
            </a:r>
            <a:r>
              <a:rPr sz="1050" b="0" dirty="0">
                <a:solidFill>
                  <a:srgbClr val="1B232E"/>
                </a:solidFill>
                <a:latin typeface="Aptos"/>
              </a:rPr>
              <a:t> under worst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39"/>
            <a:ext cx="7399094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[2] L. Abeni, G. </a:t>
            </a:r>
            <a:r>
              <a:rPr sz="1050" b="0" dirty="0" err="1">
                <a:solidFill>
                  <a:srgbClr val="1B232E"/>
                </a:solidFill>
                <a:latin typeface="Aptos"/>
              </a:rPr>
              <a:t>Buttazzo</a:t>
            </a:r>
            <a:r>
              <a:rPr sz="1050" b="0" dirty="0">
                <a:solidFill>
                  <a:srgbClr val="1B232E"/>
                </a:solidFill>
                <a:latin typeface="Aptos"/>
              </a:rPr>
              <a:t>, “Integrating Multimedia Applications in Hard Real-Time Systems,” RTSS, 1998. — Introduces CBS resource reservation: soft/variable tasks served without jeopardizing guaranteed hard tasks.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7399094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[3] G. C. </a:t>
            </a:r>
            <a:r>
              <a:rPr sz="1050" b="0" dirty="0" err="1">
                <a:solidFill>
                  <a:srgbClr val="1B232E"/>
                </a:solidFill>
                <a:latin typeface="Aptos"/>
              </a:rPr>
              <a:t>Buttazzo</a:t>
            </a:r>
            <a:r>
              <a:rPr sz="1050" b="0" dirty="0">
                <a:solidFill>
                  <a:srgbClr val="1B232E"/>
                </a:solidFill>
                <a:latin typeface="Aptos"/>
              </a:rPr>
              <a:t>, Hard Real-Time Computing Systems: Predictable Scheduling Algorithms and Applications. — Background for WCET, hard real-time predictability, utilization, EDF, and overload handling.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7399094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[4] C. L. Liu, J. W. Layland, “Scheduling Algorithms for Multiprogramming in a Hard-Real-Time Environment,” JACM, 1973. — Foundational real-time scheduling model and </a:t>
            </a:r>
            <a:r>
              <a:rPr sz="1050" b="0" dirty="0" err="1">
                <a:solidFill>
                  <a:srgbClr val="1B232E"/>
                </a:solidFill>
                <a:latin typeface="Aptos"/>
              </a:rPr>
              <a:t>schedulability</a:t>
            </a:r>
            <a:r>
              <a:rPr sz="1050" b="0" dirty="0">
                <a:solidFill>
                  <a:srgbClr val="1B232E"/>
                </a:solidFill>
                <a:latin typeface="Aptos"/>
              </a:rPr>
              <a:t> concepts.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39"/>
            <a:ext cx="7399094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1B232E"/>
                </a:solidFill>
                <a:latin typeface="Aptos"/>
              </a:rPr>
              <a:t>[5] T. P. Baker, “Stack-Based Scheduling of Real-Time Processes,” Real-Time Systems, 1991. — Resource sharing/SRP background for bounding blocking when tasks share resources.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53035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556270"/>
                </a:solidFill>
                <a:latin typeface="Aptos"/>
              </a:rPr>
              <a:t>Handling Execution Overruns • Seminar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6537960"/>
            <a:ext cx="52120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Christian Percival • Hochschule Hamm-Lippstadt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37960"/>
            <a:ext cx="22860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55627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1340</Words>
  <Application>Microsoft Office PowerPoint</Application>
  <PresentationFormat>Widescreen</PresentationFormat>
  <Paragraphs>170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Hochschule Hamm-Lippstadt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Handling Execution Overruns Seminar Presentation</dc:title>
  <dc:subject>Handling Execution Overruns in Hard Real-Time Control Systems</dc:subject>
  <dc:creator>Christian Percival</dc:creator>
  <cp:lastModifiedBy>Christian Percival</cp:lastModifiedBy>
  <cp:revision>23</cp:revision>
  <dcterms:created xsi:type="dcterms:W3CDTF">2026-06-16T13:34:43Z</dcterms:created>
  <dcterms:modified xsi:type="dcterms:W3CDTF">2026-06-17T18:59:18Z</dcterms:modified>
</cp:coreProperties>
</file>