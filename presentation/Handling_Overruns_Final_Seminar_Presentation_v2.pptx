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574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SEMINAR • Handling Execution Overruns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2B3C"/>
                </a:solidFill>
              </a:rPr>
              <a:t>Handling Execution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12B3C"/>
                </a:solidFill>
              </a:rPr>
              <a:t>Overruns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21792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878"/>
                </a:solidFill>
              </a:rPr>
              <a:t>Concepts, CBS/CBShd intuition, and a small image-processing simulation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3310128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94944" y="338328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3310128"/>
            <a:ext cx="178308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24912" y="338328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20840" y="2057400"/>
            <a:ext cx="914400" cy="6400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092440" y="2057400"/>
            <a:ext cx="914400" cy="64008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9464040" y="2057400"/>
            <a:ext cx="914400" cy="640080"/>
          </a:xfrm>
          <a:prstGeom prst="chevron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4652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2B3C"/>
                </a:solidFill>
              </a:rPr>
              <a:t>Normal task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09560" y="3429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2B3C"/>
                </a:solidFill>
              </a:rPr>
              <a:t>Overrun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8116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2B3C"/>
                </a:solidFill>
              </a:rPr>
              <a:t>Handled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Main message: WCET is safe but pessimistic; controlled overrun handling keeps better normal-case performance.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6812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2B3C"/>
                </a:solidFill>
              </a:rPr>
              <a:t>Handling Execution Overruns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472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B3C"/>
                </a:solidFill>
              </a:rPr>
              <a:t>What is an execution overrun?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1965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6878"/>
                </a:solidFill>
              </a:rPr>
              <a:t>Task runs longer than expected budget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295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B3C"/>
                </a:solidFill>
              </a:rPr>
              <a:t>Why is it dangerous?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4261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6878"/>
                </a:solidFill>
              </a:rPr>
              <a:t>It can steal CPU time and cause missed deadlines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1181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B3C"/>
                </a:solidFill>
              </a:rPr>
              <a:t>How can it be handled?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46557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6878"/>
                </a:solidFill>
              </a:rPr>
              <a:t>Bandwidth reservation + deadline postponement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9410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B3C"/>
                </a:solidFill>
              </a:rPr>
              <a:t>What did I implement?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28853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6878"/>
                </a:solidFill>
              </a:rPr>
              <a:t>Image-processing task + scheduler simulation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800600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7640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B3C"/>
                </a:solidFill>
              </a:rPr>
              <a:t>What did the results show?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511149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6878"/>
                </a:solidFill>
              </a:rPr>
              <a:t>WCET safe but slow; normal-only fast but unsafe; handled strategy adaptive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95360" y="1625131"/>
            <a:ext cx="2103120" cy="361188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595360" y="1703890"/>
            <a:ext cx="2103120" cy="489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3B4C"/>
                </a:solidFill>
              </a:rPr>
              <a:t>Core question: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892540" y="2125980"/>
            <a:ext cx="1508760" cy="260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How can we keep high normal-case task frequency without letting rare overruns break hard timing?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68034FE3-230D-89C3-1E76-9ECBA6265530}"/>
              </a:ext>
            </a:extLst>
          </p:cNvPr>
          <p:cNvSpPr/>
          <p:nvPr/>
        </p:nvSpPr>
        <p:spPr>
          <a:xfrm>
            <a:off x="621792" y="6090385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execution overrun?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A task exceeds its expected or reserved execution budget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Not an overrun: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56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B3C"/>
                </a:solidFill>
              </a:rPr>
              <a:t>Finishing earlier than WCET just means unused reserved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4023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60120" y="2532888"/>
            <a:ext cx="10515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011680" y="2532888"/>
            <a:ext cx="192024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78408" y="265176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actual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265176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</a:rPr>
              <a:t>reserved WCET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Overrun: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956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B3C"/>
                </a:solidFill>
              </a:rPr>
              <a:t>Actual execution time exceeds the normal/reserved budget.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743200"/>
            <a:ext cx="4023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675120" y="2532888"/>
            <a:ext cx="100584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680960" y="2532888"/>
            <a:ext cx="13258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702552" y="2651760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budget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26680" y="265176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extra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C"/>
                </a:solidFill>
              </a:rPr>
              <a:t>Formal idea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2B3C"/>
                </a:solidFill>
              </a:rPr>
              <a:t>overrun if   cᵢ &gt; cᵢⁿ     and overrun amount = cᵢ − cᵢⁿ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097280" y="49834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878"/>
                </a:solidFill>
              </a:rPr>
              <a:t>where cᵢⁿ is the normal computation budget and cᵢ is the actual execution time.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BDACD6E5-9861-A622-3B7F-26ADA12C0AE7}"/>
              </a:ext>
            </a:extLst>
          </p:cNvPr>
          <p:cNvSpPr/>
          <p:nvPr/>
        </p:nvSpPr>
        <p:spPr>
          <a:xfrm>
            <a:off x="631417" y="610001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overruns matter in hard real-time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One long job can break timing guarantees if it is not isolated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1206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12B3C"/>
                </a:solidFill>
              </a:rPr>
              <a:t>Hard real-time: a late result can be wrong, not just slow.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12B3C"/>
                </a:solidFill>
              </a:rPr>
              <a:t>WCET guarantees are safe, but often pessimistic when worst case is rare.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12B3C"/>
                </a:solidFill>
              </a:rPr>
              <a:t>Normal-case scheduling improves responsiveness, but overruns can cause deadline misses.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B3C"/>
                </a:solidFill>
              </a:rPr>
              <a:t>Unsafe normal-only timeline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777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874520" y="3886200"/>
            <a:ext cx="777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880360" y="3886200"/>
            <a:ext cx="7772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886200" y="3886200"/>
            <a:ext cx="777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892040" y="3886200"/>
            <a:ext cx="777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0" y="3886200"/>
            <a:ext cx="1234440" cy="347472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71800" y="4389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overrun delays next jobs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5852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83680" y="15087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Safety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20939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requires bounded interference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503920" y="1508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490"/>
                </a:solidFill>
              </a:rPr>
              <a:t>Efficiency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03920" y="2093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requires avoiding unused WCET time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360920" y="3337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</a:rPr>
              <a:t>Control quality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60920" y="3922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benefits from higher sample frequency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629400" y="4892040"/>
            <a:ext cx="3749040" cy="731520"/>
          </a:xfrm>
          <a:prstGeom prst="roundRect">
            <a:avLst>
              <a:gd name="adj" fmla="val 6250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903720" y="51023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B4C"/>
                </a:solidFill>
              </a:rPr>
              <a:t>Goal: isolate overruns without forcing every job to run at WCET frequency.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B4B66D5D-B6E3-F155-9E76-39D24B3D2211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optimal idea works: budget + deadline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Constant Bandwidth Server intuition, with CBShd improving partial overrun handling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6F4F7"/>
          </a:solidFill>
          <a:ln w="190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3B4C"/>
                </a:solidFill>
              </a:rPr>
              <a:t>Budget Qs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2B3C"/>
                </a:solidFill>
              </a:rPr>
              <a:t>how much CPU time the task may consume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2304288"/>
            <a:ext cx="347472" cy="320040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6F4F7"/>
          </a:solidFill>
          <a:ln w="190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566160" y="2075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3B4C"/>
                </a:solidFill>
              </a:rPr>
              <a:t>Period 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3016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2B3C"/>
                </a:solidFill>
              </a:rPr>
              <a:t>how often budget is replenished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0" y="2304288"/>
            <a:ext cx="347472" cy="320040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263640" y="1874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6F4F7"/>
          </a:solidFill>
          <a:ln w="190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0" y="2075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3B4C"/>
                </a:solidFill>
              </a:rPr>
              <a:t>Bandwidth Us=Qs/Ts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2B3C"/>
                </a:solidFill>
              </a:rPr>
              <a:t>long-term CPU share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2304288"/>
            <a:ext cx="347472" cy="320040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098280" y="1874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235440" y="2075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</a:rPr>
              <a:t>Deadline postponement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944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2B3C"/>
                </a:solidFill>
              </a:rPr>
              <a:t>lowers priority after budget is exhausted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3886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Normal case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22452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Task completes within budget → deadline unchanged → high responsiveness.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886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Overrun case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224528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Budget exhausted → deadline postponed → task cannot steal unlimited CPU time.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03120" y="507492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331720" y="5239512"/>
            <a:ext cx="7406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This is the key: handle the extra time locally, instead of letting it disturb every task.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81BD081F-18D6-4F0E-FDBF-BA0893CD18AF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A7E1A-8030-A855-720F-CA1FB2AB99BF}"/>
              </a:ext>
            </a:extLst>
          </p:cNvPr>
          <p:cNvSpPr txBox="1"/>
          <p:nvPr/>
        </p:nvSpPr>
        <p:spPr>
          <a:xfrm>
            <a:off x="1518248" y="612475"/>
            <a:ext cx="80053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Guarantee Task A by WCET analysis</a:t>
            </a:r>
          </a:p>
          <a:p>
            <a:r>
              <a:rPr lang="en-GB" dirty="0"/>
              <a:t>2. Use a fallback result, such as the previous valid result</a:t>
            </a:r>
          </a:p>
          <a:p>
            <a:r>
              <a:rPr lang="en-GB" dirty="0"/>
              <a:t>3. Use degraded computation, such as lower image resolution</a:t>
            </a:r>
          </a:p>
          <a:p>
            <a:r>
              <a:rPr lang="en-GB" dirty="0"/>
              <a:t>4. Allocate dedicated CPU/core/bandwidth to the chain</a:t>
            </a:r>
          </a:p>
          <a:p>
            <a:r>
              <a:rPr lang="en-GB" dirty="0"/>
              <a:t>5. </a:t>
            </a:r>
            <a:r>
              <a:rPr lang="en-GB" dirty="0" err="1"/>
              <a:t>Analyze</a:t>
            </a:r>
            <a:r>
              <a:rPr lang="en-GB" dirty="0"/>
              <a:t> the whole chain as one end-to-end deadline</a:t>
            </a:r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3CE1423D-07FD-C324-0F8C-8954A6BFA824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7E154-F40E-6C2C-D163-1B553E2796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4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software implementation: visual-tracking overrun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Synthetic images create controlled normal, hard, and worst-case execution paths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1264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Generate images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red circle positions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04872" y="1865376"/>
            <a:ext cx="292608" cy="292608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94436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Search small window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4436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normal case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1865376"/>
            <a:ext cx="292608" cy="292608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16636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27608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Search medium window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7608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medium case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68312" y="1865376"/>
            <a:ext cx="292608" cy="292608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49808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60780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Search full image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0780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hard / missing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0032" y="1865376"/>
            <a:ext cx="292608" cy="292608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82980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93952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Measure runtime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3952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CSV + plots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3C"/>
                </a:solidFill>
              </a:rPr>
              <a:t>Experiment cases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</a:rPr>
              <a:t>easy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11680" y="3703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2B3C"/>
                </a:solidFill>
              </a:rPr>
              <a:t>small window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3703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≈0.15 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178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</a:rPr>
              <a:t>medium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011680" y="4178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2B3C"/>
                </a:solidFill>
              </a:rPr>
              <a:t>medium window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4178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≈0.35 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654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hard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11680" y="4654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2B3C"/>
                </a:solidFill>
              </a:rPr>
              <a:t>full image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4654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≈8.00 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51297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missing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011680" y="5129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2B3C"/>
                </a:solidFill>
              </a:rPr>
              <a:t>full image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23360" y="5129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≈7.82 ms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3337560"/>
            <a:ext cx="4389120" cy="1737360"/>
          </a:xfrm>
          <a:prstGeom prst="roundRect">
            <a:avLst>
              <a:gd name="adj" fmla="val 315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720840" y="3611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4C"/>
                </a:solidFill>
              </a:rPr>
              <a:t>Implementation note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1228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2B3C"/>
                </a:solidFill>
              </a:rPr>
              <a:t>This is not a kernel-level CBS. It is a measurement + scheduling simulation that makes the timing tradeoff visible.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9D42145-C44E-02F2-0EB4-E5A511152DEB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Four small scripts: generate, measure, plot, simulate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B3C"/>
                </a:solidFill>
              </a:rPr>
              <a:t>generate_images.py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63440" y="149047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2B3C"/>
                </a:solidFill>
              </a:rPr>
              <a:t>Creates 1920×1080 images with easy / medium / hard / missing cases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2212848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B3C"/>
                </a:solidFill>
              </a:rPr>
              <a:t>overrun_demo.py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21488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2B3C"/>
                </a:solidFill>
              </a:rPr>
              <a:t>Searches for red object and records execution time with time.perf_counter()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2734056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68680" y="2871216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B3C"/>
                </a:solidFill>
              </a:rPr>
              <a:t>plot_results.py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280720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2B3C"/>
                </a:solidFill>
              </a:rPr>
              <a:t>Generates runtime and overrun plots from runtime_log.csv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39242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8680" y="3529584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B3C"/>
                </a:solidFill>
              </a:rPr>
              <a:t>scheduler_simulation.py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346557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2B3C"/>
                </a:solidFill>
              </a:rPr>
              <a:t>Compares WCET, NormalOnly, and OverrunHandled strategies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97280" y="4434840"/>
            <a:ext cx="9784080" cy="914400"/>
          </a:xfrm>
          <a:prstGeom prst="roundRect">
            <a:avLst>
              <a:gd name="adj" fmla="val 8000"/>
            </a:avLst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25880" y="4590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Simplified overrun rule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91947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if execution_time &gt; normal_budget:  deadline += (execution_time − normal_budget) / bandwidth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690C3919-3BF4-68B1-A31A-10C3AB65BCF5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workload: input difficulty creates runtime variability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This is the source of overruns in the prototype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data/average_runtime_by_difficulty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120640" cy="3840480"/>
          </a:xfrm>
          <a:prstGeom prst="rect">
            <a:avLst/>
          </a:prstGeom>
        </p:spPr>
      </p:pic>
      <p:pic>
        <p:nvPicPr>
          <p:cNvPr id="6" name="Image 1" descr="/mnt/data/runtime_per_frame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5120640" cy="3840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54864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490"/>
                </a:solidFill>
              </a:rPr>
              <a:t>0.15 ms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005840" y="60716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easy avg.</a:t>
            </a:r>
            <a:endParaRPr lang="en-US" sz="1020" dirty="0"/>
          </a:p>
        </p:txBody>
      </p:sp>
      <p:sp>
        <p:nvSpPr>
          <p:cNvPr id="9" name="Text 5"/>
          <p:cNvSpPr/>
          <p:nvPr/>
        </p:nvSpPr>
        <p:spPr>
          <a:xfrm>
            <a:off x="2743200" y="54864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</a:rPr>
              <a:t>8.00 ms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743200" y="60716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hard avg.</a:t>
            </a:r>
            <a:endParaRPr lang="en-US" sz="1020" dirty="0"/>
          </a:p>
        </p:txBody>
      </p:sp>
      <p:sp>
        <p:nvSpPr>
          <p:cNvPr id="11" name="Text 7"/>
          <p:cNvSpPr/>
          <p:nvPr/>
        </p:nvSpPr>
        <p:spPr>
          <a:xfrm>
            <a:off x="4480560" y="5486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</a:rPr>
              <a:t>7.82 ms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480560" y="6071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missing avg.</a:t>
            </a:r>
            <a:endParaRPr lang="en-US" sz="1020" dirty="0"/>
          </a:p>
        </p:txBody>
      </p:sp>
      <p:sp>
        <p:nvSpPr>
          <p:cNvPr id="13" name="Text 9"/>
          <p:cNvSpPr/>
          <p:nvPr/>
        </p:nvSpPr>
        <p:spPr>
          <a:xfrm>
            <a:off x="7543800" y="5486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12.75 ms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543800" y="6071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measured WCET</a:t>
            </a:r>
            <a:endParaRPr lang="en-US" sz="1020" dirty="0"/>
          </a:p>
        </p:txBody>
      </p:sp>
      <p:sp>
        <p:nvSpPr>
          <p:cNvPr id="15" name="Text 11"/>
          <p:cNvSpPr/>
          <p:nvPr/>
        </p:nvSpPr>
        <p:spPr>
          <a:xfrm>
            <a:off x="9555480" y="5486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60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9555480" y="60716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hard/missing overruns</a:t>
            </a:r>
            <a:endParaRPr lang="en-US" sz="1020" dirty="0"/>
          </a:p>
        </p:txBody>
      </p:sp>
      <p:sp>
        <p:nvSpPr>
          <p:cNvPr id="17" name="Text 13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Measured using generated 1920×1080 images; each difficulty has 30 frames.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Scheduling strategy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Same measured runtimes, different scheduling assumptions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data/deadline_misses_by_strategy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43050"/>
            <a:ext cx="3749040" cy="2811780"/>
          </a:xfrm>
          <a:prstGeom prst="rect">
            <a:avLst/>
          </a:prstGeom>
        </p:spPr>
      </p:pic>
      <p:pic>
        <p:nvPicPr>
          <p:cNvPr id="6" name="Image 1" descr="/mnt/data/effective_frequency_by_strategy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43050"/>
            <a:ext cx="3749040" cy="2811780"/>
          </a:xfrm>
          <a:prstGeom prst="rect">
            <a:avLst/>
          </a:prstGeom>
        </p:spPr>
      </p:pic>
      <p:pic>
        <p:nvPicPr>
          <p:cNvPr id="7" name="Image 2" descr="/mnt/data/average_slack_by_strategy(2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43050"/>
            <a:ext cx="3749040" cy="28117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983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B3C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77240" y="5303520"/>
            <a:ext cx="10698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12B3C"/>
                </a:solidFill>
              </a:rPr>
              <a:t>WCET has no deadline misses, but runs at only 71.3 Hz because period must cover worst case.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12B3C"/>
                </a:solidFill>
              </a:rPr>
              <a:t>NormalOnly keeps 500 Hz, but misses 60 deadlines when hard/missing images appear.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12B3C"/>
                </a:solidFill>
              </a:rPr>
              <a:t>OverrunHandled keeps the 500 Hz nominal period and extends deadlines during overruns in this simulation.</a:t>
            </a:r>
            <a:endParaRPr lang="en-US" sz="1330" dirty="0"/>
          </a:p>
        </p:txBody>
      </p:sp>
      <p:sp>
        <p:nvSpPr>
          <p:cNvPr id="10" name="Text 5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E5698244-87E8-CBDE-B585-8E7C69CEFA58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handled strategy helps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It does not make the task faster — it changes what the scheduler does when the budget is exceeded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data/runtime_deadline_NormalOnly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0180"/>
            <a:ext cx="5303520" cy="3977640"/>
          </a:xfrm>
          <a:prstGeom prst="rect">
            <a:avLst/>
          </a:prstGeom>
        </p:spPr>
      </p:pic>
      <p:pic>
        <p:nvPicPr>
          <p:cNvPr id="6" name="Image 1" descr="/mnt/data/runtime_deadline_OverrunHandled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40180"/>
            <a:ext cx="5303520" cy="3977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5623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</a:rPr>
              <a:t>NormalOnly: hard/missing frames exceed the 2 ms deadline.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40080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A34A"/>
                </a:solidFill>
              </a:rPr>
              <a:t>OverrunHandled: budget is exceeded, but deadline is extended locally.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9418CBE-49C0-85A0-5DB1-A6BA3F907023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optimal solution?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Not one fixed period for everything — combine normal-case speed with bounded overrun handling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4C"/>
                </a:solidFill>
              </a:rPr>
              <a:t>WCET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✓ Safe, simple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⚠ Pessimistic; lower sampling frequency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61772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Normal only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✓ Fast normal-case 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⚠ Unsafe during hard frames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75320" y="15087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45820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CBS/CBShd-style handling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✓ Balances efficiency and protection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⚠ Requires scheduler support and overhead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516636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148840" y="535838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Optimal idea for variable workloads: reserve bandwidth, detect budget exhaustion, postpone deadlines only when needed.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9771E976-71CE-4C45-0E2A-6EF15E0496E3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Limitations, learning outcome, and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What this demo proves — and what it does not claim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4864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2B3C"/>
                </a:solidFill>
              </a:rPr>
              <a:t>The prototype is a simulation, not a kernel-level hard real-time scheduler.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2B3C"/>
                </a:solidFill>
              </a:rPr>
              <a:t>Timing results depend on Python, Windows/Linux scheduling, CPU load, and OpenCV behavior.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2B3C"/>
                </a:solidFill>
              </a:rPr>
              <a:t>A real system would need validated WCET, kernel support, and resource-sharing analysis.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2B3C"/>
                </a:solidFill>
              </a:rPr>
              <a:t>But the demo clearly shows the tradeoff: WCET safety vs normal-case frequency vs adaptive handling.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7208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B3C"/>
                </a:solidFill>
              </a:rPr>
              <a:t>Key references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20840" y="1874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2B3C"/>
                </a:solidFill>
              </a:rPr>
              <a:t>[1] Caccamo, Buttazzo, Sha — Handling Execution Overruns in Hard Real-Time Control Systems, 2002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720840" y="2377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2B3C"/>
                </a:solidFill>
              </a:rPr>
              <a:t>[2] Buttazzo — Hard Real-Time Computing Systems, 4th ed., 2024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720840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2B3C"/>
                </a:solidFill>
              </a:rPr>
              <a:t>[3] Abeni &amp; Buttazzo — Constant Bandwidth Server, RTSS 1998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72084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2B3C"/>
                </a:solidFill>
              </a:rPr>
              <a:t>[4] Liu &amp; Layland — EDF and scheduling foundations, 1973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1463040" y="4389120"/>
            <a:ext cx="9326880" cy="731520"/>
          </a:xfrm>
          <a:prstGeom prst="roundRect">
            <a:avLst>
              <a:gd name="adj" fmla="val 75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691640" y="4590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C"/>
                </a:solidFill>
              </a:rPr>
              <a:t>Final takeaway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45537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2B3C"/>
                </a:solidFill>
              </a:rPr>
              <a:t>Overruns are not eliminated; they are isolated and accounted for so that timing behavior stays controlled.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Questions?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0199A8B-A982-C2E7-CB12-613061DF422D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1215</Words>
  <Application>Microsoft Office PowerPoint</Application>
  <PresentationFormat>Widescreen</PresentationFormat>
  <Paragraphs>207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Hochschule Hamm-Lippstadt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Execution Overruns Seminar Presentation</dc:title>
  <dc:subject>Handling Execution Overruns in Hard Real-Time Control Systems</dc:subject>
  <dc:creator>Christian Percival</dc:creator>
  <cp:lastModifiedBy>Christian Percival</cp:lastModifiedBy>
  <cp:revision>4</cp:revision>
  <dcterms:created xsi:type="dcterms:W3CDTF">2026-06-16T13:34:43Z</dcterms:created>
  <dcterms:modified xsi:type="dcterms:W3CDTF">2026-06-16T19:04:23Z</dcterms:modified>
</cp:coreProperties>
</file>