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  <p:sldMasterId id="2147483651" r:id="rId2"/>
  </p:sldMasterIdLst>
  <p:notesMasterIdLst>
    <p:notesMasterId r:id="rId16"/>
  </p:notesMasterIdLst>
  <p:sldIdLst>
    <p:sldId id="269" r:id="rId3"/>
    <p:sldId id="257" r:id="rId4"/>
    <p:sldId id="258" r:id="rId5"/>
    <p:sldId id="259" r:id="rId6"/>
    <p:sldId id="260" r:id="rId7"/>
    <p:sldId id="268" r:id="rId8"/>
    <p:sldId id="261" r:id="rId9"/>
    <p:sldId id="262" r:id="rId10"/>
    <p:sldId id="263" r:id="rId11"/>
    <p:sldId id="264" r:id="rId12"/>
    <p:sldId id="265" r:id="rId13"/>
    <p:sldId id="266" r:id="rId14"/>
    <p:sldId id="267" r:id="rId1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1" d="100"/>
          <a:sy n="111" d="100"/>
        </p:scale>
        <p:origin x="55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viewProps" Target="view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10" Type="http://schemas.openxmlformats.org/officeDocument/2006/relationships/slide" Target="slides/slide8.xml"/><Relationship Id="rId19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395743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 w="12700">
            <a:solidFill>
              <a:srgbClr val="F7FAF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0" y="6638544"/>
            <a:ext cx="12191695" cy="219456"/>
          </a:xfrm>
          <a:prstGeom prst="rect">
            <a:avLst/>
          </a:prstGeom>
          <a:solidFill>
            <a:srgbClr val="0E3B4C"/>
          </a:solidFill>
          <a:ln w="12700">
            <a:solidFill>
              <a:srgbClr val="0E3B4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744663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6547104"/>
            <a:ext cx="11201400" cy="0"/>
          </a:xfrm>
          <a:prstGeom prst="line">
            <a:avLst/>
          </a:prstGeom>
          <a:noFill/>
          <a:ln w="12700">
            <a:solidFill>
              <a:srgbClr val="D9E2E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502920" y="6565392"/>
            <a:ext cx="5669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6D7B9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Handling Execution Overruns • Seminar Project</a:t>
            </a:r>
            <a:endParaRPr lang="en-US" sz="7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03152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6D7B9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34971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4.xml"/><Relationship Id="rId1" Type="http://schemas.openxmlformats.org/officeDocument/2006/relationships/slideLayout" Target="../slideLayouts/slideLayout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03152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6D7B9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00884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2" r:id="rId1"/>
    <p:sldLayoutId id="2147483653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1097280"/>
            <a:ext cx="58521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3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Handling Execution</a:t>
            </a:r>
            <a:endParaRPr kumimoji="0" lang="en-US" sz="4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3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Overruns</a:t>
            </a:r>
            <a:endParaRPr kumimoji="0" lang="en-US" sz="4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3" name="Text 1"/>
          <p:cNvSpPr/>
          <p:nvPr/>
        </p:nvSpPr>
        <p:spPr>
          <a:xfrm>
            <a:off x="731520" y="2560320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700" b="0" i="0" u="none" strike="noStrike" kern="1200" cap="none" spc="0" normalizeH="0" baseline="0" noProof="0" dirty="0">
                <a:ln>
                  <a:noFill/>
                </a:ln>
                <a:solidFill>
                  <a:srgbClr val="D7E4F5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Hard real-time control systems • CBS/CBShd • Prototype simulation</a:t>
            </a:r>
            <a:endParaRPr kumimoji="0" lang="en-US" sz="1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4" name="Text 2"/>
          <p:cNvSpPr/>
          <p:nvPr/>
        </p:nvSpPr>
        <p:spPr>
          <a:xfrm>
            <a:off x="731520" y="5166360"/>
            <a:ext cx="7132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B8C7DA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Christian Percival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B8C7DA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Electronic Engineering • Hochschule Hamm-Lippstadt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5" name="Shape 3"/>
          <p:cNvSpPr/>
          <p:nvPr/>
        </p:nvSpPr>
        <p:spPr>
          <a:xfrm>
            <a:off x="731520" y="3182112"/>
            <a:ext cx="5577840" cy="0"/>
          </a:xfrm>
          <a:prstGeom prst="line">
            <a:avLst/>
          </a:prstGeom>
          <a:noFill/>
          <a:ln w="25400">
            <a:solidFill>
              <a:srgbClr val="22C8F2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6" name="Text 4"/>
          <p:cNvSpPr/>
          <p:nvPr/>
        </p:nvSpPr>
        <p:spPr>
          <a:xfrm>
            <a:off x="8183880" y="2029968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22C8F2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Core question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7" name="Text 5"/>
          <p:cNvSpPr/>
          <p:nvPr/>
        </p:nvSpPr>
        <p:spPr>
          <a:xfrm>
            <a:off x="8183880" y="2377440"/>
            <a:ext cx="2880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9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How can a hard real-time system stay safe when a task suddenly needs more execution time than expected?</a:t>
            </a:r>
            <a:endParaRPr kumimoji="0" lang="en-US" sz="1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03152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6D7B90"/>
                </a:solidFill>
                <a:latin typeface="Aptos"/>
                <a:ea typeface="Aptos"/>
                <a:cs typeface="Apto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6D7B90"/>
                </a:solidFill>
                <a:effectLst/>
                <a:uLnTx/>
                <a:uFillTx/>
                <a:latin typeface="Apto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srgbClr val="6D7B90"/>
              </a:solidFill>
              <a:effectLst/>
              <a:uLnTx/>
              <a:uFillTx/>
              <a:latin typeface="Apto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10241280" cy="411480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l"/>
            <a:r>
              <a:rPr sz="3000" b="1">
                <a:solidFill>
                  <a:srgbClr val="1E3A5F"/>
                </a:solidFill>
              </a:rPr>
              <a:t>What is an execution overrun?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13232"/>
            <a:ext cx="10332720" cy="301752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l"/>
            <a:r>
              <a:rPr sz="1400" b="0">
                <a:solidFill>
                  <a:srgbClr val="4B4B4B"/>
                </a:solidFill>
              </a:rPr>
              <a:t>A timing problem: the task may still compute the correct result, but it uses more CPU time than the system planned for.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143000"/>
            <a:ext cx="10058400" cy="868680"/>
          </a:xfrm>
          <a:prstGeom prst="roundRect">
            <a:avLst/>
          </a:prstGeom>
          <a:solidFill>
            <a:srgbClr val="ECF4FC"/>
          </a:solidFill>
          <a:ln w="15240">
            <a:solidFill>
              <a:srgbClr val="B4C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22960" y="1271016"/>
            <a:ext cx="9601200" cy="457200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ctr"/>
            <a:r>
              <a:rPr sz="2200" b="1">
                <a:solidFill>
                  <a:srgbClr val="1E3A5F"/>
                </a:solidFill>
              </a:rPr>
              <a:t>Overrun = actual execution time exceeds the normal/reserved budget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606040" y="1719072"/>
            <a:ext cx="6126480" cy="219456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ctr"/>
            <a:r>
              <a:rPr sz="1200" b="0">
                <a:solidFill>
                  <a:srgbClr val="373737"/>
                </a:solidFill>
              </a:rPr>
              <a:t>formal idea:  cᵢ &gt; cᵢⁿ   and   overrun amount = cᵢ − cᵢⁿ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240280"/>
            <a:ext cx="4754880" cy="1965960"/>
          </a:xfrm>
          <a:prstGeom prst="roundRect">
            <a:avLst/>
          </a:prstGeom>
          <a:solidFill>
            <a:srgbClr val="FAFAFA"/>
          </a:solidFill>
          <a:ln w="15240"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68680" y="2395728"/>
            <a:ext cx="4251960" cy="292608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ctr"/>
            <a:r>
              <a:rPr sz="1800" b="1">
                <a:solidFill>
                  <a:srgbClr val="2EA043"/>
                </a:solidFill>
              </a:rPr>
              <a:t>Normal execution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1005840" y="3035808"/>
            <a:ext cx="3977639" cy="109728"/>
          </a:xfrm>
          <a:prstGeom prst="rect">
            <a:avLst/>
          </a:prstGeom>
          <a:solidFill>
            <a:srgbClr val="E1E1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1005840" y="2907792"/>
            <a:ext cx="2240280" cy="384048"/>
          </a:xfrm>
          <a:prstGeom prst="roundRect">
            <a:avLst/>
          </a:prstGeom>
          <a:solidFill>
            <a:srgbClr val="2C7BB6"/>
          </a:solidFill>
          <a:ln w="15240">
            <a:solidFill>
              <a:srgbClr val="2850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24128" y="2971800"/>
            <a:ext cx="2194560" cy="164592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actual runtime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794760" y="2761488"/>
            <a:ext cx="32004" cy="731520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337560" y="3511296"/>
            <a:ext cx="987552" cy="182880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ctr"/>
            <a:r>
              <a:rPr sz="1100" b="0">
                <a:solidFill>
                  <a:srgbClr val="373737"/>
                </a:solidFill>
              </a:rPr>
              <a:t>budget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3703320"/>
            <a:ext cx="4206240" cy="320040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ctr"/>
            <a:r>
              <a:rPr sz="1300" b="0">
                <a:solidFill>
                  <a:srgbClr val="3C3C3C"/>
                </a:solidFill>
              </a:rPr>
              <a:t>Finishes inside budget → next tasks can run as planned.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577840" y="2240280"/>
            <a:ext cx="5029200" cy="1965960"/>
          </a:xfrm>
          <a:prstGeom prst="roundRect">
            <a:avLst/>
          </a:prstGeom>
          <a:solidFill>
            <a:srgbClr val="FFFAF5"/>
          </a:solidFill>
          <a:ln w="15240">
            <a:solidFill>
              <a:srgbClr val="E6C8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806440" y="2395728"/>
            <a:ext cx="4572000" cy="292608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ctr"/>
            <a:r>
              <a:rPr sz="1800" b="1">
                <a:solidFill>
                  <a:srgbClr val="E67E22"/>
                </a:solidFill>
              </a:rPr>
              <a:t>Execution overrun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989320" y="3035808"/>
            <a:ext cx="4206240" cy="109728"/>
          </a:xfrm>
          <a:prstGeom prst="rect">
            <a:avLst/>
          </a:prstGeom>
          <a:solidFill>
            <a:srgbClr val="E1E1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5989320" y="2907792"/>
            <a:ext cx="2194560" cy="384048"/>
          </a:xfrm>
          <a:prstGeom prst="roundRect">
            <a:avLst/>
          </a:prstGeom>
          <a:solidFill>
            <a:srgbClr val="2C7BB6"/>
          </a:solidFill>
          <a:ln w="15240">
            <a:solidFill>
              <a:srgbClr val="2850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8183879" y="2907792"/>
            <a:ext cx="1600200" cy="384048"/>
          </a:xfrm>
          <a:prstGeom prst="roundRect">
            <a:avLst/>
          </a:prstGeom>
          <a:solidFill>
            <a:srgbClr val="E67E22"/>
          </a:solidFill>
          <a:ln w="15240">
            <a:solidFill>
              <a:srgbClr val="AA50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016752" y="2971800"/>
            <a:ext cx="2057400" cy="164592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normal part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0" y="2971800"/>
            <a:ext cx="1508760" cy="164592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extra time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183879" y="2761488"/>
            <a:ext cx="32004" cy="731520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726679" y="3511296"/>
            <a:ext cx="987552" cy="182880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ctr"/>
            <a:r>
              <a:rPr sz="1100" b="0">
                <a:solidFill>
                  <a:srgbClr val="373737"/>
                </a:solidFill>
              </a:rPr>
              <a:t>budget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897880" y="3703320"/>
            <a:ext cx="4572000" cy="320040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ctr"/>
            <a:r>
              <a:rPr sz="1300" b="0">
                <a:solidFill>
                  <a:srgbClr val="3C3C3C"/>
                </a:solidFill>
              </a:rPr>
              <a:t>Uses CPU time that was not planned → can delay other jobs.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652760" y="6309360"/>
            <a:ext cx="274320" cy="201168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r"/>
            <a:r>
              <a:rPr sz="1000" b="0">
                <a:solidFill>
                  <a:srgbClr val="646464"/>
                </a:solidFill>
              </a:rPr>
              <a:t>2</a:t>
            </a:r>
          </a:p>
        </p:txBody>
      </p:sp>
      <p:sp>
        <p:nvSpPr>
          <p:cNvPr id="36" name="Text 13">
            <a:extLst>
              <a:ext uri="{FF2B5EF4-FFF2-40B4-BE49-F238E27FC236}">
                <a16:creationId xmlns:a16="http://schemas.microsoft.com/office/drawing/2014/main" id="{687C410B-FAA2-4C13-E4C9-CC24C3ACA2E7}"/>
              </a:ext>
            </a:extLst>
          </p:cNvPr>
          <p:cNvSpPr/>
          <p:nvPr/>
        </p:nvSpPr>
        <p:spPr>
          <a:xfrm>
            <a:off x="621792" y="6080760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36878"/>
                </a:solidFill>
              </a:rPr>
              <a:t>Christian Percival • Hochschule Hamm-Lippstadt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0698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12B3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is an execution overrun?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21208" y="850392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36878"/>
                </a:solidFill>
              </a:rPr>
              <a:t>A task exceeds its expected or reserved execution budget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02920" y="1188720"/>
            <a:ext cx="1115568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Text 3"/>
          <p:cNvSpPr/>
          <p:nvPr/>
        </p:nvSpPr>
        <p:spPr>
          <a:xfrm>
            <a:off x="685800" y="1600200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6A34A"/>
                </a:solidFill>
              </a:rPr>
              <a:t>Not an overrun: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85800" y="1956816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12B3C"/>
                </a:solidFill>
              </a:rPr>
              <a:t>Finishing earlier than WCET just means unused reserved time.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822960" y="2743200"/>
            <a:ext cx="4023360" cy="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8" name="Shape 6"/>
          <p:cNvSpPr/>
          <p:nvPr/>
        </p:nvSpPr>
        <p:spPr>
          <a:xfrm>
            <a:off x="960120" y="2532888"/>
            <a:ext cx="1051560" cy="41148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Shape 7"/>
          <p:cNvSpPr/>
          <p:nvPr/>
        </p:nvSpPr>
        <p:spPr>
          <a:xfrm>
            <a:off x="2011680" y="2532888"/>
            <a:ext cx="1920240" cy="411480"/>
          </a:xfrm>
          <a:prstGeom prst="rect">
            <a:avLst/>
          </a:prstGeom>
          <a:solidFill>
            <a:srgbClr val="DCFCE7"/>
          </a:solidFill>
          <a:ln w="12700">
            <a:solidFill>
              <a:srgbClr val="DCFCE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" name="Text 8"/>
          <p:cNvSpPr/>
          <p:nvPr/>
        </p:nvSpPr>
        <p:spPr>
          <a:xfrm>
            <a:off x="978408" y="2651760"/>
            <a:ext cx="10058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actual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2057400" y="2651760"/>
            <a:ext cx="17373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6A34A"/>
                </a:solidFill>
              </a:rPr>
              <a:t>reserved WCET time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6400800" y="1600200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DC2626"/>
                </a:solidFill>
              </a:rPr>
              <a:t>Overrun: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400800" y="1956816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12B3C"/>
                </a:solidFill>
              </a:rPr>
              <a:t>Actual execution time exceeds the normal/reserved budget.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6537960" y="2743200"/>
            <a:ext cx="4023360" cy="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15" name="Shape 13"/>
          <p:cNvSpPr/>
          <p:nvPr/>
        </p:nvSpPr>
        <p:spPr>
          <a:xfrm>
            <a:off x="6675120" y="2532888"/>
            <a:ext cx="1005840" cy="41148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6" name="Shape 14"/>
          <p:cNvSpPr/>
          <p:nvPr/>
        </p:nvSpPr>
        <p:spPr>
          <a:xfrm>
            <a:off x="7680960" y="2532888"/>
            <a:ext cx="1325880" cy="41148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7" name="Text 15"/>
          <p:cNvSpPr/>
          <p:nvPr/>
        </p:nvSpPr>
        <p:spPr>
          <a:xfrm>
            <a:off x="6702552" y="2651760"/>
            <a:ext cx="94183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budget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7726680" y="2651760"/>
            <a:ext cx="12344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extra time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685800" y="393192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E3B4C"/>
                </a:solidFill>
              </a:rPr>
              <a:t>Formal idea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731520" y="4343400"/>
            <a:ext cx="10241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500" b="1" dirty="0">
                <a:solidFill>
                  <a:srgbClr val="112B3C"/>
                </a:solidFill>
              </a:rPr>
              <a:t>overrun if   cᵢ &gt; cᵢⁿ     and overrun amount = cᵢ − cᵢⁿ</a:t>
            </a:r>
            <a:endParaRPr lang="en-US" sz="2500" dirty="0"/>
          </a:p>
        </p:txBody>
      </p:sp>
      <p:sp>
        <p:nvSpPr>
          <p:cNvPr id="21" name="Text 19"/>
          <p:cNvSpPr/>
          <p:nvPr/>
        </p:nvSpPr>
        <p:spPr>
          <a:xfrm>
            <a:off x="1097280" y="4983480"/>
            <a:ext cx="9601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536878"/>
                </a:solidFill>
              </a:rPr>
              <a:t>where cᵢⁿ is the normal computation budget and cᵢ is the actual execution time.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02920" y="6446520"/>
            <a:ext cx="8686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</a:rPr>
              <a:t>Handling Execution Overruns • 10 min seminar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3</a:t>
            </a:fld>
            <a:endParaRPr lang="en-US"/>
          </a:p>
        </p:txBody>
      </p:sp>
      <p:sp>
        <p:nvSpPr>
          <p:cNvPr id="23" name="Text 13">
            <a:extLst>
              <a:ext uri="{FF2B5EF4-FFF2-40B4-BE49-F238E27FC236}">
                <a16:creationId xmlns:a16="http://schemas.microsoft.com/office/drawing/2014/main" id="{B18EBED3-B986-056D-51CA-9043FD0120FB}"/>
              </a:ext>
            </a:extLst>
          </p:cNvPr>
          <p:cNvSpPr/>
          <p:nvPr/>
        </p:nvSpPr>
        <p:spPr>
          <a:xfrm>
            <a:off x="621792" y="6080760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36878"/>
                </a:solidFill>
              </a:rPr>
              <a:t>Christian Percival • Hochschule Hamm-Lippstadt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0698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12B3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Why overruns matter in hard real-time control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21208" y="850392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36878"/>
                </a:solidFill>
              </a:rPr>
              <a:t>One long job can break timing guarantees if it is not isolated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02920" y="1188720"/>
            <a:ext cx="1115568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Text 3"/>
          <p:cNvSpPr/>
          <p:nvPr/>
        </p:nvSpPr>
        <p:spPr>
          <a:xfrm>
            <a:off x="685800" y="1463040"/>
            <a:ext cx="5120640" cy="18288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 lnSpcReduction="10000"/>
          </a:bodyPr>
          <a:lstStyle/>
          <a:p>
            <a:pPr marL="152400" indent="-152400">
              <a:buSzPct val="100000"/>
              <a:buChar char="•"/>
            </a:pPr>
            <a:r>
              <a:rPr lang="en-US" sz="1800" dirty="0">
                <a:solidFill>
                  <a:srgbClr val="112B3C"/>
                </a:solidFill>
              </a:rPr>
              <a:t>Hard real-time: a late result can be wrong, not just slow.</a:t>
            </a:r>
            <a:endParaRPr lang="en-US" sz="1800" dirty="0"/>
          </a:p>
          <a:p>
            <a:pPr marL="152400" indent="-152400">
              <a:buSzPct val="100000"/>
              <a:buChar char="•"/>
            </a:pPr>
            <a:r>
              <a:rPr lang="en-US" sz="1800" dirty="0">
                <a:solidFill>
                  <a:srgbClr val="112B3C"/>
                </a:solidFill>
              </a:rPr>
              <a:t>WCET guarantees are safe, but often pessimistic when worst case is rare.</a:t>
            </a:r>
            <a:endParaRPr lang="en-US" sz="1800" dirty="0"/>
          </a:p>
          <a:p>
            <a:pPr marL="152400" indent="-152400">
              <a:buSzPct val="100000"/>
              <a:buChar char="•"/>
            </a:pPr>
            <a:r>
              <a:rPr lang="en-US" sz="1800" dirty="0">
                <a:solidFill>
                  <a:srgbClr val="112B3C"/>
                </a:solidFill>
              </a:rPr>
              <a:t>Normal-case scheduling improves responsiveness, but overruns can cause deadline misses.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85800" y="3383280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12B3C"/>
                </a:solidFill>
              </a:rPr>
              <a:t>Unsafe normal-only timeline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868680" y="3886200"/>
            <a:ext cx="777240" cy="347472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Shape 6"/>
          <p:cNvSpPr/>
          <p:nvPr/>
        </p:nvSpPr>
        <p:spPr>
          <a:xfrm>
            <a:off x="1874520" y="3886200"/>
            <a:ext cx="777240" cy="347472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Shape 7"/>
          <p:cNvSpPr/>
          <p:nvPr/>
        </p:nvSpPr>
        <p:spPr>
          <a:xfrm>
            <a:off x="2880360" y="3886200"/>
            <a:ext cx="777240" cy="34747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" name="Shape 8"/>
          <p:cNvSpPr/>
          <p:nvPr/>
        </p:nvSpPr>
        <p:spPr>
          <a:xfrm>
            <a:off x="3886200" y="3886200"/>
            <a:ext cx="777240" cy="347472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" name="Shape 9"/>
          <p:cNvSpPr/>
          <p:nvPr/>
        </p:nvSpPr>
        <p:spPr>
          <a:xfrm>
            <a:off x="4892040" y="3886200"/>
            <a:ext cx="777240" cy="347472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" name="Shape 10"/>
          <p:cNvSpPr/>
          <p:nvPr/>
        </p:nvSpPr>
        <p:spPr>
          <a:xfrm>
            <a:off x="3657600" y="3886200"/>
            <a:ext cx="1234440" cy="347472"/>
          </a:xfrm>
          <a:prstGeom prst="rect">
            <a:avLst/>
          </a:prstGeom>
          <a:solidFill>
            <a:srgbClr val="FECACA"/>
          </a:solidFill>
          <a:ln w="12700">
            <a:solidFill>
              <a:srgbClr val="FECAC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" name="Text 11"/>
          <p:cNvSpPr/>
          <p:nvPr/>
        </p:nvSpPr>
        <p:spPr>
          <a:xfrm>
            <a:off x="2971800" y="4389120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C2626"/>
                </a:solidFill>
              </a:rPr>
              <a:t>overrun delays next jobs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68680" y="4617720"/>
            <a:ext cx="5852160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15" name="Text 13"/>
          <p:cNvSpPr/>
          <p:nvPr/>
        </p:nvSpPr>
        <p:spPr>
          <a:xfrm>
            <a:off x="6583680" y="1508760"/>
            <a:ext cx="1554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DC2626"/>
                </a:solidFill>
              </a:rPr>
              <a:t>Safety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6583680" y="2093976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020" dirty="0">
                <a:solidFill>
                  <a:srgbClr val="536878"/>
                </a:solidFill>
              </a:rPr>
              <a:t>requires bounded interference</a:t>
            </a:r>
            <a:endParaRPr lang="en-US" sz="1020" dirty="0"/>
          </a:p>
        </p:txBody>
      </p:sp>
      <p:sp>
        <p:nvSpPr>
          <p:cNvPr id="17" name="Text 15"/>
          <p:cNvSpPr/>
          <p:nvPr/>
        </p:nvSpPr>
        <p:spPr>
          <a:xfrm>
            <a:off x="8503920" y="1508760"/>
            <a:ext cx="1828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E7490"/>
                </a:solidFill>
              </a:rPr>
              <a:t>Efficiency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8503920" y="2093976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020" dirty="0">
                <a:solidFill>
                  <a:srgbClr val="536878"/>
                </a:solidFill>
              </a:rPr>
              <a:t>requires avoiding unused WCET time</a:t>
            </a:r>
            <a:endParaRPr lang="en-US" sz="1020" dirty="0"/>
          </a:p>
        </p:txBody>
      </p:sp>
      <p:sp>
        <p:nvSpPr>
          <p:cNvPr id="19" name="Text 17"/>
          <p:cNvSpPr/>
          <p:nvPr/>
        </p:nvSpPr>
        <p:spPr>
          <a:xfrm>
            <a:off x="7360920" y="3337560"/>
            <a:ext cx="2286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97316"/>
                </a:solidFill>
              </a:rPr>
              <a:t>Control quality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7360920" y="3922776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20" dirty="0">
                <a:solidFill>
                  <a:srgbClr val="536878"/>
                </a:solidFill>
              </a:rPr>
              <a:t>benefits from higher sample frequency</a:t>
            </a:r>
            <a:endParaRPr lang="en-US" sz="1020" dirty="0"/>
          </a:p>
        </p:txBody>
      </p:sp>
      <p:sp>
        <p:nvSpPr>
          <p:cNvPr id="21" name="Shape 19"/>
          <p:cNvSpPr/>
          <p:nvPr/>
        </p:nvSpPr>
        <p:spPr>
          <a:xfrm>
            <a:off x="6629400" y="4892040"/>
            <a:ext cx="3749040" cy="731520"/>
          </a:xfrm>
          <a:prstGeom prst="roundRect">
            <a:avLst>
              <a:gd name="adj" fmla="val 6250"/>
            </a:avLst>
          </a:prstGeom>
          <a:solidFill>
            <a:srgbClr val="E6F4F7"/>
          </a:solidFill>
          <a:ln w="12700">
            <a:solidFill>
              <a:srgbClr val="E6F4F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2" name="Text 20"/>
          <p:cNvSpPr/>
          <p:nvPr/>
        </p:nvSpPr>
        <p:spPr>
          <a:xfrm>
            <a:off x="6903720" y="5102352"/>
            <a:ext cx="3246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70000" lnSpcReduction="20000"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E3B4C"/>
                </a:solidFill>
              </a:rPr>
              <a:t>Goal: isolate overruns without forcing every job to run at WCET frequency.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502920" y="6446520"/>
            <a:ext cx="8686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</a:rPr>
              <a:t>Handling Execution Overruns • 10 min seminar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4</a:t>
            </a:fld>
            <a:endParaRPr lang="en-US"/>
          </a:p>
        </p:txBody>
      </p:sp>
      <p:sp>
        <p:nvSpPr>
          <p:cNvPr id="24" name="Text 13">
            <a:extLst>
              <a:ext uri="{FF2B5EF4-FFF2-40B4-BE49-F238E27FC236}">
                <a16:creationId xmlns:a16="http://schemas.microsoft.com/office/drawing/2014/main" id="{A392C1AA-4C23-0821-744C-BFDEE92E07C7}"/>
              </a:ext>
            </a:extLst>
          </p:cNvPr>
          <p:cNvSpPr/>
          <p:nvPr/>
        </p:nvSpPr>
        <p:spPr>
          <a:xfrm>
            <a:off x="621792" y="6080760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36878"/>
                </a:solidFill>
              </a:rPr>
              <a:t>Christian Percival • Hochschule Hamm-Lippstadt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0698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12B3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How the optimal idea works: budget + deadline control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21208" y="850392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36878"/>
                </a:solidFill>
              </a:rPr>
              <a:t>Constant Bandwidth Server intuition, with CBShd improving partial overrun handling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02920" y="1188720"/>
            <a:ext cx="1115568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Shape 3"/>
          <p:cNvSpPr/>
          <p:nvPr/>
        </p:nvSpPr>
        <p:spPr>
          <a:xfrm>
            <a:off x="594360" y="1874520"/>
            <a:ext cx="2240280" cy="1234440"/>
          </a:xfrm>
          <a:prstGeom prst="roundRect">
            <a:avLst>
              <a:gd name="adj" fmla="val 5926"/>
            </a:avLst>
          </a:prstGeom>
          <a:solidFill>
            <a:srgbClr val="E6F4F7"/>
          </a:solidFill>
          <a:ln w="19050">
            <a:solidFill>
              <a:srgbClr val="BAE6F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" name="Text 4"/>
          <p:cNvSpPr/>
          <p:nvPr/>
        </p:nvSpPr>
        <p:spPr>
          <a:xfrm>
            <a:off x="731520" y="2075688"/>
            <a:ext cx="1965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E3B4C"/>
                </a:solidFill>
              </a:rPr>
              <a:t>Budget Qs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795528" y="2450592"/>
            <a:ext cx="1828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112B3C"/>
                </a:solidFill>
              </a:rPr>
              <a:t>how much CPU time the task may consume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2926080" y="2304288"/>
            <a:ext cx="347472" cy="320040"/>
          </a:xfrm>
          <a:prstGeom prst="chevron">
            <a:avLst/>
          </a:prstGeom>
          <a:solidFill>
            <a:srgbClr val="536878"/>
          </a:solidFill>
          <a:ln w="12700">
            <a:solidFill>
              <a:srgbClr val="53687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Shape 7"/>
          <p:cNvSpPr/>
          <p:nvPr/>
        </p:nvSpPr>
        <p:spPr>
          <a:xfrm>
            <a:off x="3429000" y="1874520"/>
            <a:ext cx="2240280" cy="1234440"/>
          </a:xfrm>
          <a:prstGeom prst="roundRect">
            <a:avLst>
              <a:gd name="adj" fmla="val 5926"/>
            </a:avLst>
          </a:prstGeom>
          <a:solidFill>
            <a:srgbClr val="E6F4F7"/>
          </a:solidFill>
          <a:ln w="19050">
            <a:solidFill>
              <a:srgbClr val="BAE6F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" name="Text 8"/>
          <p:cNvSpPr/>
          <p:nvPr/>
        </p:nvSpPr>
        <p:spPr>
          <a:xfrm>
            <a:off x="3566160" y="2075688"/>
            <a:ext cx="1965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E3B4C"/>
                </a:solidFill>
              </a:rPr>
              <a:t>Period Ts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3630168" y="2450592"/>
            <a:ext cx="1828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112B3C"/>
                </a:solidFill>
              </a:rPr>
              <a:t>how often budget is replenished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760720" y="2304288"/>
            <a:ext cx="347472" cy="320040"/>
          </a:xfrm>
          <a:prstGeom prst="chevron">
            <a:avLst/>
          </a:prstGeom>
          <a:solidFill>
            <a:srgbClr val="536878"/>
          </a:solidFill>
          <a:ln w="12700">
            <a:solidFill>
              <a:srgbClr val="53687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" name="Shape 11"/>
          <p:cNvSpPr/>
          <p:nvPr/>
        </p:nvSpPr>
        <p:spPr>
          <a:xfrm>
            <a:off x="6263640" y="1874520"/>
            <a:ext cx="2240280" cy="1234440"/>
          </a:xfrm>
          <a:prstGeom prst="roundRect">
            <a:avLst>
              <a:gd name="adj" fmla="val 5926"/>
            </a:avLst>
          </a:prstGeom>
          <a:solidFill>
            <a:srgbClr val="E6F4F7"/>
          </a:solidFill>
          <a:ln w="19050">
            <a:solidFill>
              <a:srgbClr val="BAE6F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4" name="Text 12"/>
          <p:cNvSpPr/>
          <p:nvPr/>
        </p:nvSpPr>
        <p:spPr>
          <a:xfrm>
            <a:off x="6400800" y="2075688"/>
            <a:ext cx="1965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E3B4C"/>
                </a:solidFill>
              </a:rPr>
              <a:t>Bandwidth Us=Qs/Ts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6464808" y="2450592"/>
            <a:ext cx="1828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112B3C"/>
                </a:solidFill>
              </a:rPr>
              <a:t>long-term CPU share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8595360" y="2304288"/>
            <a:ext cx="347472" cy="320040"/>
          </a:xfrm>
          <a:prstGeom prst="chevron">
            <a:avLst/>
          </a:prstGeom>
          <a:solidFill>
            <a:srgbClr val="536878"/>
          </a:solidFill>
          <a:ln w="12700">
            <a:solidFill>
              <a:srgbClr val="53687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7" name="Shape 15"/>
          <p:cNvSpPr/>
          <p:nvPr/>
        </p:nvSpPr>
        <p:spPr>
          <a:xfrm>
            <a:off x="9098280" y="1874520"/>
            <a:ext cx="2240280" cy="1234440"/>
          </a:xfrm>
          <a:prstGeom prst="roundRect">
            <a:avLst>
              <a:gd name="adj" fmla="val 5926"/>
            </a:avLst>
          </a:prstGeom>
          <a:solidFill>
            <a:srgbClr val="FFF7ED"/>
          </a:solidFill>
          <a:ln w="19050">
            <a:solidFill>
              <a:srgbClr val="FED7A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8" name="Text 16"/>
          <p:cNvSpPr/>
          <p:nvPr/>
        </p:nvSpPr>
        <p:spPr>
          <a:xfrm>
            <a:off x="9235440" y="2075688"/>
            <a:ext cx="1965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97316"/>
                </a:solidFill>
              </a:rPr>
              <a:t>Deadline postponement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9299448" y="2450592"/>
            <a:ext cx="1828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112B3C"/>
                </a:solidFill>
              </a:rPr>
              <a:t>lowers priority after budget is exhausted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731520" y="3886200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A34A"/>
                </a:solidFill>
              </a:rPr>
              <a:t>Normal case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731520" y="4224528"/>
            <a:ext cx="48463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12B3C"/>
                </a:solidFill>
              </a:rPr>
              <a:t>Task completes within budget → deadline unchanged → high responsiveness.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400800" y="3886200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DC2626"/>
                </a:solidFill>
              </a:rPr>
              <a:t>Overrun case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6400800" y="4224528"/>
            <a:ext cx="50292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12B3C"/>
                </a:solidFill>
              </a:rPr>
              <a:t>Budget exhausted → deadline postponed → task cannot steal unlimited CPU time.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2103120" y="5074920"/>
            <a:ext cx="7863840" cy="502920"/>
          </a:xfrm>
          <a:prstGeom prst="roundRect">
            <a:avLst>
              <a:gd name="adj" fmla="val 10909"/>
            </a:avLst>
          </a:prstGeom>
          <a:solidFill>
            <a:srgbClr val="0E3B4C"/>
          </a:solidFill>
          <a:ln w="12700">
            <a:solidFill>
              <a:srgbClr val="0E3B4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5" name="Text 23"/>
          <p:cNvSpPr/>
          <p:nvPr/>
        </p:nvSpPr>
        <p:spPr>
          <a:xfrm>
            <a:off x="2331720" y="5239512"/>
            <a:ext cx="740664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This is the key: handle the extra time locally, instead of letting it disturb every task.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502920" y="6446520"/>
            <a:ext cx="8686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</a:rPr>
              <a:t>Handling Execution Overruns • 10 min seminar</a:t>
            </a:r>
            <a:endParaRPr lang="en-US" sz="800" dirty="0"/>
          </a:p>
        </p:txBody>
      </p:sp>
      <p:sp>
        <p:nvSpPr>
          <p:cNvPr id="2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5</a:t>
            </a:fld>
            <a:endParaRPr lang="en-US"/>
          </a:p>
        </p:txBody>
      </p:sp>
      <p:sp>
        <p:nvSpPr>
          <p:cNvPr id="28" name="Text 13">
            <a:extLst>
              <a:ext uri="{FF2B5EF4-FFF2-40B4-BE49-F238E27FC236}">
                <a16:creationId xmlns:a16="http://schemas.microsoft.com/office/drawing/2014/main" id="{92969AD9-252E-91E9-FEE8-EA109EF53744}"/>
              </a:ext>
            </a:extLst>
          </p:cNvPr>
          <p:cNvSpPr/>
          <p:nvPr/>
        </p:nvSpPr>
        <p:spPr>
          <a:xfrm>
            <a:off x="621792" y="6080760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36878"/>
                </a:solidFill>
              </a:rPr>
              <a:t>Christian Percival • Hochschule Hamm-Lippstadt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99A7E1A-8030-A855-720F-CA1FB2AB99BF}"/>
              </a:ext>
            </a:extLst>
          </p:cNvPr>
          <p:cNvSpPr txBox="1"/>
          <p:nvPr/>
        </p:nvSpPr>
        <p:spPr>
          <a:xfrm>
            <a:off x="1518248" y="612475"/>
            <a:ext cx="8005313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1. Guarantee Task A by WCET analysis</a:t>
            </a:r>
          </a:p>
          <a:p>
            <a:r>
              <a:rPr lang="en-GB" dirty="0"/>
              <a:t>2. Use a fallback result, such as the previous valid result</a:t>
            </a:r>
          </a:p>
          <a:p>
            <a:r>
              <a:rPr lang="en-GB" dirty="0"/>
              <a:t>3. Use degraded computation, such as lower image resolution</a:t>
            </a:r>
          </a:p>
          <a:p>
            <a:r>
              <a:rPr lang="en-GB" dirty="0"/>
              <a:t>4. Allocate dedicated CPU/core/bandwidth to the chain</a:t>
            </a:r>
          </a:p>
          <a:p>
            <a:r>
              <a:rPr lang="en-GB" dirty="0"/>
              <a:t>5. </a:t>
            </a:r>
            <a:r>
              <a:rPr lang="en-GB" dirty="0" err="1"/>
              <a:t>Analyze</a:t>
            </a:r>
            <a:r>
              <a:rPr lang="en-GB" dirty="0"/>
              <a:t> the whole chain as one end-to-end deadline</a:t>
            </a:r>
          </a:p>
        </p:txBody>
      </p:sp>
      <p:sp>
        <p:nvSpPr>
          <p:cNvPr id="3" name="Text 13">
            <a:extLst>
              <a:ext uri="{FF2B5EF4-FFF2-40B4-BE49-F238E27FC236}">
                <a16:creationId xmlns:a16="http://schemas.microsoft.com/office/drawing/2014/main" id="{FEDF3D7B-C0C0-6E45-E9B7-B73D299CD24D}"/>
              </a:ext>
            </a:extLst>
          </p:cNvPr>
          <p:cNvSpPr/>
          <p:nvPr/>
        </p:nvSpPr>
        <p:spPr>
          <a:xfrm>
            <a:off x="621792" y="6080760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36878"/>
                </a:solidFill>
              </a:rPr>
              <a:t>Christian Percival • Hochschule Hamm-Lippstadt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192344253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0698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12B3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My software implementation: visual-tracking overrun demo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21208" y="850392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36878"/>
                </a:solidFill>
              </a:rPr>
              <a:t>Synthetic images create controlled normal, hard, and worst-case execution paths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02920" y="1188720"/>
            <a:ext cx="1115568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Shape 3"/>
          <p:cNvSpPr/>
          <p:nvPr/>
        </p:nvSpPr>
        <p:spPr>
          <a:xfrm>
            <a:off x="502920" y="1554480"/>
            <a:ext cx="1828800" cy="914400"/>
          </a:xfrm>
          <a:prstGeom prst="roundRect">
            <a:avLst>
              <a:gd name="adj" fmla="val 5000"/>
            </a:avLst>
          </a:prstGeom>
          <a:solidFill>
            <a:srgbClr val="E6F4F7"/>
          </a:solidFill>
          <a:ln w="12700">
            <a:solidFill>
              <a:srgbClr val="BAE6F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" name="Text 4"/>
          <p:cNvSpPr/>
          <p:nvPr/>
        </p:nvSpPr>
        <p:spPr>
          <a:xfrm>
            <a:off x="612648" y="1764792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12B3C"/>
                </a:solidFill>
              </a:rPr>
              <a:t>Generate images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12648" y="2075688"/>
            <a:ext cx="1600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536878"/>
                </a:solidFill>
              </a:rPr>
              <a:t>red circle positions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2404872" y="1865376"/>
            <a:ext cx="292608" cy="292608"/>
          </a:xfrm>
          <a:prstGeom prst="chevron">
            <a:avLst/>
          </a:prstGeom>
          <a:solidFill>
            <a:srgbClr val="536878"/>
          </a:solidFill>
          <a:ln w="12700">
            <a:solidFill>
              <a:srgbClr val="53687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Shape 7"/>
          <p:cNvSpPr/>
          <p:nvPr/>
        </p:nvSpPr>
        <p:spPr>
          <a:xfrm>
            <a:off x="2834640" y="1554480"/>
            <a:ext cx="1828800" cy="914400"/>
          </a:xfrm>
          <a:prstGeom prst="roundRect">
            <a:avLst>
              <a:gd name="adj" fmla="val 5000"/>
            </a:avLst>
          </a:prstGeom>
          <a:solidFill>
            <a:srgbClr val="E6F4F7"/>
          </a:solidFill>
          <a:ln w="12700">
            <a:solidFill>
              <a:srgbClr val="BAE6F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" name="Text 8"/>
          <p:cNvSpPr/>
          <p:nvPr/>
        </p:nvSpPr>
        <p:spPr>
          <a:xfrm>
            <a:off x="2944368" y="1764792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12B3C"/>
                </a:solidFill>
              </a:rPr>
              <a:t>Search small window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2944368" y="2075688"/>
            <a:ext cx="1600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536878"/>
                </a:solidFill>
              </a:rPr>
              <a:t>normal case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736592" y="1865376"/>
            <a:ext cx="292608" cy="292608"/>
          </a:xfrm>
          <a:prstGeom prst="chevron">
            <a:avLst/>
          </a:prstGeom>
          <a:solidFill>
            <a:srgbClr val="536878"/>
          </a:solidFill>
          <a:ln w="12700">
            <a:solidFill>
              <a:srgbClr val="53687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" name="Shape 11"/>
          <p:cNvSpPr/>
          <p:nvPr/>
        </p:nvSpPr>
        <p:spPr>
          <a:xfrm>
            <a:off x="5166360" y="1554480"/>
            <a:ext cx="1828800" cy="914400"/>
          </a:xfrm>
          <a:prstGeom prst="roundRect">
            <a:avLst>
              <a:gd name="adj" fmla="val 5000"/>
            </a:avLst>
          </a:prstGeom>
          <a:solidFill>
            <a:srgbClr val="E6F4F7"/>
          </a:solidFill>
          <a:ln w="12700">
            <a:solidFill>
              <a:srgbClr val="BAE6F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4" name="Text 12"/>
          <p:cNvSpPr/>
          <p:nvPr/>
        </p:nvSpPr>
        <p:spPr>
          <a:xfrm>
            <a:off x="5276088" y="1764792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77500" lnSpcReduction="20000"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12B3C"/>
                </a:solidFill>
              </a:rPr>
              <a:t>Search medium window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276088" y="2075688"/>
            <a:ext cx="1600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536878"/>
                </a:solidFill>
              </a:rPr>
              <a:t>medium case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7068312" y="1865376"/>
            <a:ext cx="292608" cy="292608"/>
          </a:xfrm>
          <a:prstGeom prst="chevron">
            <a:avLst/>
          </a:prstGeom>
          <a:solidFill>
            <a:srgbClr val="536878"/>
          </a:solidFill>
          <a:ln w="12700">
            <a:solidFill>
              <a:srgbClr val="53687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7" name="Shape 15"/>
          <p:cNvSpPr/>
          <p:nvPr/>
        </p:nvSpPr>
        <p:spPr>
          <a:xfrm>
            <a:off x="7498080" y="1554480"/>
            <a:ext cx="1828800" cy="914400"/>
          </a:xfrm>
          <a:prstGeom prst="roundRect">
            <a:avLst>
              <a:gd name="adj" fmla="val 5000"/>
            </a:avLst>
          </a:prstGeom>
          <a:solidFill>
            <a:srgbClr val="FFF7ED"/>
          </a:solidFill>
          <a:ln w="12700">
            <a:solidFill>
              <a:srgbClr val="FDBA7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8" name="Text 16"/>
          <p:cNvSpPr/>
          <p:nvPr/>
        </p:nvSpPr>
        <p:spPr>
          <a:xfrm>
            <a:off x="7607808" y="1764792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12B3C"/>
                </a:solidFill>
              </a:rPr>
              <a:t>Search full image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7607808" y="2075688"/>
            <a:ext cx="1600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536878"/>
                </a:solidFill>
              </a:rPr>
              <a:t>hard / missing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9400032" y="1865376"/>
            <a:ext cx="292608" cy="292608"/>
          </a:xfrm>
          <a:prstGeom prst="chevron">
            <a:avLst/>
          </a:prstGeom>
          <a:solidFill>
            <a:srgbClr val="536878"/>
          </a:solidFill>
          <a:ln w="12700">
            <a:solidFill>
              <a:srgbClr val="53687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1" name="Shape 19"/>
          <p:cNvSpPr/>
          <p:nvPr/>
        </p:nvSpPr>
        <p:spPr>
          <a:xfrm>
            <a:off x="9829800" y="1554480"/>
            <a:ext cx="1828800" cy="914400"/>
          </a:xfrm>
          <a:prstGeom prst="roundRect">
            <a:avLst>
              <a:gd name="adj" fmla="val 5000"/>
            </a:avLst>
          </a:prstGeom>
          <a:solidFill>
            <a:srgbClr val="FFF7ED"/>
          </a:solidFill>
          <a:ln w="12700">
            <a:solidFill>
              <a:srgbClr val="FDBA7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2" name="Text 20"/>
          <p:cNvSpPr/>
          <p:nvPr/>
        </p:nvSpPr>
        <p:spPr>
          <a:xfrm>
            <a:off x="9939528" y="1764792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12B3C"/>
                </a:solidFill>
              </a:rPr>
              <a:t>Measure runtime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9939528" y="2075688"/>
            <a:ext cx="1600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536878"/>
                </a:solidFill>
              </a:rPr>
              <a:t>CSV + plots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731520" y="324612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12B3C"/>
                </a:solidFill>
              </a:rPr>
              <a:t>Experiment cases</a:t>
            </a:r>
            <a:endParaRPr lang="en-US" sz="1700" dirty="0"/>
          </a:p>
        </p:txBody>
      </p:sp>
      <p:sp>
        <p:nvSpPr>
          <p:cNvPr id="25" name="Text 23"/>
          <p:cNvSpPr/>
          <p:nvPr/>
        </p:nvSpPr>
        <p:spPr>
          <a:xfrm>
            <a:off x="822960" y="3703320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E7490"/>
                </a:solidFill>
              </a:rPr>
              <a:t>easy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2011680" y="3703320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12B3C"/>
                </a:solidFill>
              </a:rPr>
              <a:t>small window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023360" y="370332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36878"/>
                </a:solidFill>
              </a:rPr>
              <a:t>≈0.15 ms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822960" y="4178808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E7490"/>
                </a:solidFill>
              </a:rPr>
              <a:t>medium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2011680" y="4178808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12B3C"/>
                </a:solidFill>
              </a:rPr>
              <a:t>medium window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4023360" y="4178808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36878"/>
                </a:solidFill>
              </a:rPr>
              <a:t>≈0.35 ms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822960" y="4654296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97316"/>
                </a:solidFill>
              </a:rPr>
              <a:t>hard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2011680" y="4654296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12B3C"/>
                </a:solidFill>
              </a:rPr>
              <a:t>full image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4023360" y="4654296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36878"/>
                </a:solidFill>
              </a:rPr>
              <a:t>≈8.00 ms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822960" y="5129784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97316"/>
                </a:solidFill>
              </a:rPr>
              <a:t>missing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2011680" y="5129784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12B3C"/>
                </a:solidFill>
              </a:rPr>
              <a:t>full image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4023360" y="5129784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36878"/>
                </a:solidFill>
              </a:rPr>
              <a:t>≈7.82 ms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6492240" y="3337560"/>
            <a:ext cx="4389120" cy="1737360"/>
          </a:xfrm>
          <a:prstGeom prst="roundRect">
            <a:avLst>
              <a:gd name="adj" fmla="val 3158"/>
            </a:avLst>
          </a:prstGeom>
          <a:solidFill>
            <a:srgbClr val="ECFEFF"/>
          </a:solidFill>
          <a:ln w="12700">
            <a:solidFill>
              <a:srgbClr val="A5F3F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8" name="Text 36"/>
          <p:cNvSpPr/>
          <p:nvPr/>
        </p:nvSpPr>
        <p:spPr>
          <a:xfrm>
            <a:off x="6720840" y="3611880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E3B4C"/>
                </a:solidFill>
              </a:rPr>
              <a:t>Implementation note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6812280" y="3977640"/>
            <a:ext cx="3749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1500" dirty="0">
                <a:solidFill>
                  <a:srgbClr val="112B3C"/>
                </a:solidFill>
              </a:rPr>
              <a:t>This is not a kernel-level CBS. It is a measurement + scheduling simulation that makes the timing tradeoff visible.</a:t>
            </a:r>
            <a:endParaRPr lang="en-US" sz="1500" dirty="0"/>
          </a:p>
        </p:txBody>
      </p:sp>
      <p:sp>
        <p:nvSpPr>
          <p:cNvPr id="40" name="Text 38"/>
          <p:cNvSpPr/>
          <p:nvPr/>
        </p:nvSpPr>
        <p:spPr>
          <a:xfrm>
            <a:off x="502920" y="6446520"/>
            <a:ext cx="8686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</a:rPr>
              <a:t>Handling Execution Overruns • 10 min seminar</a:t>
            </a:r>
            <a:endParaRPr lang="en-US" sz="800" dirty="0"/>
          </a:p>
        </p:txBody>
      </p:sp>
      <p:sp>
        <p:nvSpPr>
          <p:cNvPr id="41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7</a:t>
            </a:fld>
            <a:endParaRPr lang="en-US"/>
          </a:p>
        </p:txBody>
      </p:sp>
      <p:sp>
        <p:nvSpPr>
          <p:cNvPr id="42" name="Text 13">
            <a:extLst>
              <a:ext uri="{FF2B5EF4-FFF2-40B4-BE49-F238E27FC236}">
                <a16:creationId xmlns:a16="http://schemas.microsoft.com/office/drawing/2014/main" id="{91C8B4E8-D8D5-1CAC-757C-9B9E3B75B2DB}"/>
              </a:ext>
            </a:extLst>
          </p:cNvPr>
          <p:cNvSpPr/>
          <p:nvPr/>
        </p:nvSpPr>
        <p:spPr>
          <a:xfrm>
            <a:off x="621792" y="6080760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36878"/>
                </a:solidFill>
              </a:rPr>
              <a:t>Christian Percival • Hochschule Hamm-Lippstadt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0698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12B3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Implementation architecture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21208" y="850392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36878"/>
                </a:solidFill>
              </a:rPr>
              <a:t>Four small scripts: generate, measure, plot, simulate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02920" y="1188720"/>
            <a:ext cx="1115568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Shape 3"/>
          <p:cNvSpPr/>
          <p:nvPr/>
        </p:nvSpPr>
        <p:spPr>
          <a:xfrm>
            <a:off x="685800" y="1417320"/>
            <a:ext cx="3657600" cy="457200"/>
          </a:xfrm>
          <a:prstGeom prst="roundRect">
            <a:avLst>
              <a:gd name="adj" fmla="val 10000"/>
            </a:avLst>
          </a:prstGeom>
          <a:solidFill>
            <a:srgbClr val="E6F4F7"/>
          </a:solidFill>
          <a:ln w="12700">
            <a:solidFill>
              <a:srgbClr val="BAE6F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" name="Text 4"/>
          <p:cNvSpPr/>
          <p:nvPr/>
        </p:nvSpPr>
        <p:spPr>
          <a:xfrm>
            <a:off x="868680" y="1554480"/>
            <a:ext cx="32918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12B3C"/>
                </a:solidFill>
              </a:rPr>
              <a:t>generate_images.py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4663440" y="1490472"/>
            <a:ext cx="6355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12B3C"/>
                </a:solidFill>
              </a:rPr>
              <a:t>Creates 1920×1080 images with easy / medium / hard / missing cases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85800" y="2075688"/>
            <a:ext cx="3657600" cy="457200"/>
          </a:xfrm>
          <a:prstGeom prst="roundRect">
            <a:avLst>
              <a:gd name="adj" fmla="val 10000"/>
            </a:avLst>
          </a:prstGeom>
          <a:solidFill>
            <a:srgbClr val="E6F4F7"/>
          </a:solidFill>
          <a:ln w="12700">
            <a:solidFill>
              <a:srgbClr val="BAE6F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Text 7"/>
          <p:cNvSpPr/>
          <p:nvPr/>
        </p:nvSpPr>
        <p:spPr>
          <a:xfrm>
            <a:off x="868680" y="2212848"/>
            <a:ext cx="32918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12B3C"/>
                </a:solidFill>
              </a:rPr>
              <a:t>overrun_demo.py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4663440" y="2148840"/>
            <a:ext cx="6355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12B3C"/>
                </a:solidFill>
              </a:rPr>
              <a:t>Searches for red object and records execution time with time.perf_counter()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685800" y="2734056"/>
            <a:ext cx="3657600" cy="457200"/>
          </a:xfrm>
          <a:prstGeom prst="roundRect">
            <a:avLst>
              <a:gd name="adj" fmla="val 10000"/>
            </a:avLst>
          </a:prstGeom>
          <a:solidFill>
            <a:srgbClr val="E6F4F7"/>
          </a:solidFill>
          <a:ln w="12700">
            <a:solidFill>
              <a:srgbClr val="BAE6F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" name="Text 10"/>
          <p:cNvSpPr/>
          <p:nvPr/>
        </p:nvSpPr>
        <p:spPr>
          <a:xfrm>
            <a:off x="868680" y="2871216"/>
            <a:ext cx="32918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12B3C"/>
                </a:solidFill>
              </a:rPr>
              <a:t>plot_results.py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4663440" y="2807208"/>
            <a:ext cx="6355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12B3C"/>
                </a:solidFill>
              </a:rPr>
              <a:t>Generates runtime and overrun plots from runtime_log.csv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685800" y="3392424"/>
            <a:ext cx="3657600" cy="457200"/>
          </a:xfrm>
          <a:prstGeom prst="roundRect">
            <a:avLst>
              <a:gd name="adj" fmla="val 10000"/>
            </a:avLst>
          </a:prstGeom>
          <a:solidFill>
            <a:srgbClr val="FFF7ED"/>
          </a:solidFill>
          <a:ln w="12700">
            <a:solidFill>
              <a:srgbClr val="FDBA7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5" name="Text 13"/>
          <p:cNvSpPr/>
          <p:nvPr/>
        </p:nvSpPr>
        <p:spPr>
          <a:xfrm>
            <a:off x="868680" y="3529584"/>
            <a:ext cx="32918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12B3C"/>
                </a:solidFill>
              </a:rPr>
              <a:t>scheduler_simulation.py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4663440" y="3465576"/>
            <a:ext cx="6355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12B3C"/>
                </a:solidFill>
              </a:rPr>
              <a:t>Compares WCET, NormalOnly, and OverrunHandled strategies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1097280" y="4434840"/>
            <a:ext cx="9784080" cy="914400"/>
          </a:xfrm>
          <a:prstGeom prst="roundRect">
            <a:avLst>
              <a:gd name="adj" fmla="val 8000"/>
            </a:avLst>
          </a:prstGeom>
          <a:solidFill>
            <a:srgbClr val="0E3B4C"/>
          </a:solidFill>
          <a:ln w="12700">
            <a:solidFill>
              <a:srgbClr val="0E3B4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8" name="Text 16"/>
          <p:cNvSpPr/>
          <p:nvPr/>
        </p:nvSpPr>
        <p:spPr>
          <a:xfrm>
            <a:off x="1325880" y="4590288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Simplified overrun rule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371600" y="4919472"/>
            <a:ext cx="9235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</a:rPr>
              <a:t>if execution_time &gt; normal_budget:  deadline += (execution_time − normal_budget) / bandwidth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502920" y="6446520"/>
            <a:ext cx="8686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</a:rPr>
              <a:t>Handling Execution Overruns • 10 min seminar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8</a:t>
            </a:fld>
            <a:endParaRPr lang="en-US"/>
          </a:p>
        </p:txBody>
      </p:sp>
      <p:sp>
        <p:nvSpPr>
          <p:cNvPr id="21" name="Text 13">
            <a:extLst>
              <a:ext uri="{FF2B5EF4-FFF2-40B4-BE49-F238E27FC236}">
                <a16:creationId xmlns:a16="http://schemas.microsoft.com/office/drawing/2014/main" id="{C2265F56-F84A-F84B-C170-0B3D416E27C7}"/>
              </a:ext>
            </a:extLst>
          </p:cNvPr>
          <p:cNvSpPr/>
          <p:nvPr/>
        </p:nvSpPr>
        <p:spPr>
          <a:xfrm>
            <a:off x="621792" y="6080760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36878"/>
                </a:solidFill>
              </a:rPr>
              <a:t>Christian Percival • Hochschule Hamm-Lippstadt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0698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12B3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Measured workload: input difficulty creates runtime variability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21208" y="850392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36878"/>
                </a:solidFill>
              </a:rPr>
              <a:t>This is the source of overruns in the prototype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02920" y="1188720"/>
            <a:ext cx="1115568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5" name="Image 0" descr="/mnt/data/average_runtime_by_difficulty(2)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417320"/>
            <a:ext cx="5120640" cy="3840480"/>
          </a:xfrm>
          <a:prstGeom prst="rect">
            <a:avLst/>
          </a:prstGeom>
        </p:spPr>
      </p:pic>
      <p:pic>
        <p:nvPicPr>
          <p:cNvPr id="6" name="Image 1" descr="/mnt/data/runtime_per_frame(2)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7920" y="1417320"/>
            <a:ext cx="5120640" cy="384048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005840" y="5486400"/>
            <a:ext cx="1188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E7490"/>
                </a:solidFill>
              </a:rPr>
              <a:t>0.15 ms</a:t>
            </a:r>
            <a:endParaRPr lang="en-US" sz="2400" dirty="0"/>
          </a:p>
        </p:txBody>
      </p:sp>
      <p:sp>
        <p:nvSpPr>
          <p:cNvPr id="8" name="Text 4"/>
          <p:cNvSpPr/>
          <p:nvPr/>
        </p:nvSpPr>
        <p:spPr>
          <a:xfrm>
            <a:off x="1005840" y="6071616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20" dirty="0">
                <a:solidFill>
                  <a:srgbClr val="536878"/>
                </a:solidFill>
              </a:rPr>
              <a:t>easy avg.</a:t>
            </a:r>
            <a:endParaRPr lang="en-US" sz="1020" dirty="0"/>
          </a:p>
        </p:txBody>
      </p:sp>
      <p:sp>
        <p:nvSpPr>
          <p:cNvPr id="9" name="Text 5"/>
          <p:cNvSpPr/>
          <p:nvPr/>
        </p:nvSpPr>
        <p:spPr>
          <a:xfrm>
            <a:off x="2743200" y="5486400"/>
            <a:ext cx="1188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97316"/>
                </a:solidFill>
              </a:rPr>
              <a:t>8.00 ms</a:t>
            </a:r>
            <a:endParaRPr lang="en-US" sz="2400" dirty="0"/>
          </a:p>
        </p:txBody>
      </p:sp>
      <p:sp>
        <p:nvSpPr>
          <p:cNvPr id="10" name="Text 6"/>
          <p:cNvSpPr/>
          <p:nvPr/>
        </p:nvSpPr>
        <p:spPr>
          <a:xfrm>
            <a:off x="2743200" y="6071616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20" dirty="0">
                <a:solidFill>
                  <a:srgbClr val="536878"/>
                </a:solidFill>
              </a:rPr>
              <a:t>hard avg.</a:t>
            </a:r>
            <a:endParaRPr lang="en-US" sz="1020" dirty="0"/>
          </a:p>
        </p:txBody>
      </p:sp>
      <p:sp>
        <p:nvSpPr>
          <p:cNvPr id="11" name="Text 7"/>
          <p:cNvSpPr/>
          <p:nvPr/>
        </p:nvSpPr>
        <p:spPr>
          <a:xfrm>
            <a:off x="4480560" y="5486400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97316"/>
                </a:solidFill>
              </a:rPr>
              <a:t>7.82 ms</a:t>
            </a:r>
            <a:endParaRPr lang="en-US" sz="2400" dirty="0"/>
          </a:p>
        </p:txBody>
      </p:sp>
      <p:sp>
        <p:nvSpPr>
          <p:cNvPr id="12" name="Text 8"/>
          <p:cNvSpPr/>
          <p:nvPr/>
        </p:nvSpPr>
        <p:spPr>
          <a:xfrm>
            <a:off x="4480560" y="6071616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20" dirty="0">
                <a:solidFill>
                  <a:srgbClr val="536878"/>
                </a:solidFill>
              </a:rPr>
              <a:t>missing avg.</a:t>
            </a:r>
            <a:endParaRPr lang="en-US" sz="1020" dirty="0"/>
          </a:p>
        </p:txBody>
      </p:sp>
      <p:sp>
        <p:nvSpPr>
          <p:cNvPr id="13" name="Text 9"/>
          <p:cNvSpPr/>
          <p:nvPr/>
        </p:nvSpPr>
        <p:spPr>
          <a:xfrm>
            <a:off x="7543800" y="5486400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DC2626"/>
                </a:solidFill>
              </a:rPr>
              <a:t>12.75 ms</a:t>
            </a:r>
            <a:endParaRPr lang="en-US" sz="2400" dirty="0"/>
          </a:p>
        </p:txBody>
      </p:sp>
      <p:sp>
        <p:nvSpPr>
          <p:cNvPr id="14" name="Text 10"/>
          <p:cNvSpPr/>
          <p:nvPr/>
        </p:nvSpPr>
        <p:spPr>
          <a:xfrm>
            <a:off x="7543800" y="6071616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20" dirty="0">
                <a:solidFill>
                  <a:srgbClr val="536878"/>
                </a:solidFill>
              </a:rPr>
              <a:t>measured WCET</a:t>
            </a:r>
            <a:endParaRPr lang="en-US" sz="1020" dirty="0"/>
          </a:p>
        </p:txBody>
      </p:sp>
      <p:sp>
        <p:nvSpPr>
          <p:cNvPr id="15" name="Text 11"/>
          <p:cNvSpPr/>
          <p:nvPr/>
        </p:nvSpPr>
        <p:spPr>
          <a:xfrm>
            <a:off x="9555480" y="5486400"/>
            <a:ext cx="1280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DC2626"/>
                </a:solidFill>
              </a:rPr>
              <a:t>60</a:t>
            </a:r>
            <a:endParaRPr lang="en-US" sz="2400" dirty="0"/>
          </a:p>
        </p:txBody>
      </p:sp>
      <p:sp>
        <p:nvSpPr>
          <p:cNvPr id="16" name="Text 12"/>
          <p:cNvSpPr/>
          <p:nvPr/>
        </p:nvSpPr>
        <p:spPr>
          <a:xfrm>
            <a:off x="9555480" y="6071616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20" dirty="0">
                <a:solidFill>
                  <a:srgbClr val="536878"/>
                </a:solidFill>
              </a:rPr>
              <a:t>hard/missing overruns</a:t>
            </a:r>
            <a:endParaRPr lang="en-US" sz="1020" dirty="0"/>
          </a:p>
        </p:txBody>
      </p:sp>
      <p:sp>
        <p:nvSpPr>
          <p:cNvPr id="17" name="Text 13"/>
          <p:cNvSpPr/>
          <p:nvPr/>
        </p:nvSpPr>
        <p:spPr>
          <a:xfrm>
            <a:off x="502920" y="6446520"/>
            <a:ext cx="8686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</a:rPr>
              <a:t>Measured using generated 1920×1080 images; each difficulty has 30 frames.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0698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12B3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Scheduling strategy comparison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21208" y="850392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36878"/>
                </a:solidFill>
              </a:rPr>
              <a:t>Same measured runtimes, different scheduling assumptions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02920" y="1188720"/>
            <a:ext cx="1115568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5" name="Image 0" descr="/mnt/data/deadline_misses_by_strategy(1)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1543050"/>
            <a:ext cx="3749040" cy="2811780"/>
          </a:xfrm>
          <a:prstGeom prst="rect">
            <a:avLst/>
          </a:prstGeom>
        </p:spPr>
      </p:pic>
      <p:pic>
        <p:nvPicPr>
          <p:cNvPr id="6" name="Image 1" descr="/mnt/data/effective_frequency_by_strategy(2)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51960" y="1543050"/>
            <a:ext cx="3749040" cy="2811780"/>
          </a:xfrm>
          <a:prstGeom prst="rect">
            <a:avLst/>
          </a:prstGeom>
        </p:spPr>
      </p:pic>
      <p:pic>
        <p:nvPicPr>
          <p:cNvPr id="7" name="Image 2" descr="/mnt/data/average_slack_by_strategy(2)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92440" y="1543050"/>
            <a:ext cx="3749040" cy="2811780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777240" y="498348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12B3C"/>
                </a:solidFill>
              </a:rPr>
              <a:t>Interpretation</a:t>
            </a:r>
            <a:endParaRPr lang="en-US" sz="1600" dirty="0"/>
          </a:p>
        </p:txBody>
      </p:sp>
      <p:sp>
        <p:nvSpPr>
          <p:cNvPr id="9" name="Text 4"/>
          <p:cNvSpPr/>
          <p:nvPr/>
        </p:nvSpPr>
        <p:spPr>
          <a:xfrm>
            <a:off x="777240" y="5303520"/>
            <a:ext cx="10698480" cy="8229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330" dirty="0">
                <a:solidFill>
                  <a:srgbClr val="112B3C"/>
                </a:solidFill>
              </a:rPr>
              <a:t>WCET has no deadline misses, but runs at only 71.3 Hz because period must cover worst case.</a:t>
            </a:r>
            <a:endParaRPr lang="en-US" sz="1330" dirty="0"/>
          </a:p>
          <a:p>
            <a:pPr marL="152400" indent="-152400">
              <a:buSzPct val="100000"/>
              <a:buChar char="•"/>
            </a:pPr>
            <a:r>
              <a:rPr lang="en-US" sz="1330" dirty="0">
                <a:solidFill>
                  <a:srgbClr val="112B3C"/>
                </a:solidFill>
              </a:rPr>
              <a:t>NormalOnly keeps 500 Hz, but misses 60 deadlines when hard/missing images appear.</a:t>
            </a:r>
            <a:endParaRPr lang="en-US" sz="1330" dirty="0"/>
          </a:p>
          <a:p>
            <a:pPr marL="152400" indent="-152400">
              <a:buSzPct val="100000"/>
              <a:buChar char="•"/>
            </a:pPr>
            <a:r>
              <a:rPr lang="en-US" sz="1330" dirty="0">
                <a:solidFill>
                  <a:srgbClr val="112B3C"/>
                </a:solidFill>
              </a:rPr>
              <a:t>OverrunHandled keeps the 500 Hz nominal period and extends deadlines during overruns in this simulation.</a:t>
            </a:r>
            <a:endParaRPr lang="en-US" sz="1330" dirty="0"/>
          </a:p>
        </p:txBody>
      </p:sp>
      <p:sp>
        <p:nvSpPr>
          <p:cNvPr id="10" name="Text 5"/>
          <p:cNvSpPr/>
          <p:nvPr/>
        </p:nvSpPr>
        <p:spPr>
          <a:xfrm>
            <a:off x="502920" y="6446520"/>
            <a:ext cx="8686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</a:rPr>
              <a:t>Handling Execution Overruns • 10 min seminar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10</a:t>
            </a:fld>
            <a:endParaRPr lang="en-US"/>
          </a:p>
        </p:txBody>
      </p:sp>
      <p:sp>
        <p:nvSpPr>
          <p:cNvPr id="11" name="Text 13">
            <a:extLst>
              <a:ext uri="{FF2B5EF4-FFF2-40B4-BE49-F238E27FC236}">
                <a16:creationId xmlns:a16="http://schemas.microsoft.com/office/drawing/2014/main" id="{7D85E499-1769-48CE-D1EB-E9CBE026D508}"/>
              </a:ext>
            </a:extLst>
          </p:cNvPr>
          <p:cNvSpPr/>
          <p:nvPr/>
        </p:nvSpPr>
        <p:spPr>
          <a:xfrm>
            <a:off x="621792" y="6080760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36878"/>
                </a:solidFill>
              </a:rPr>
              <a:t>Christian Percival • Hochschule Hamm-Lippstadt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0698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12B3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Why the handled strategy helps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21208" y="850392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36878"/>
                </a:solidFill>
              </a:rPr>
              <a:t>It does not make the task faster — it changes what the scheduler does when the budget is exceeded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02920" y="1188720"/>
            <a:ext cx="1115568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5" name="Image 0" descr="/mnt/data/runtime_deadline_NormalOnly(2)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440180"/>
            <a:ext cx="5303520" cy="3977640"/>
          </a:xfrm>
          <a:prstGeom prst="rect">
            <a:avLst/>
          </a:prstGeom>
        </p:spPr>
      </p:pic>
      <p:pic>
        <p:nvPicPr>
          <p:cNvPr id="6" name="Image 1" descr="/mnt/data/runtime_deadline_OverrunHandled(2)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63640" y="1440180"/>
            <a:ext cx="5303520" cy="397764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822960" y="562356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DC2626"/>
                </a:solidFill>
              </a:rPr>
              <a:t>NormalOnly: hard/missing frames exceed the 2 ms deadline.</a:t>
            </a:r>
            <a:endParaRPr lang="en-US" sz="1350" dirty="0"/>
          </a:p>
        </p:txBody>
      </p:sp>
      <p:sp>
        <p:nvSpPr>
          <p:cNvPr id="8" name="Text 4"/>
          <p:cNvSpPr/>
          <p:nvPr/>
        </p:nvSpPr>
        <p:spPr>
          <a:xfrm>
            <a:off x="6400800" y="562356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6A34A"/>
                </a:solidFill>
              </a:rPr>
              <a:t>OverrunHandled: budget is exceeded, but deadline is extended locally.</a:t>
            </a:r>
            <a:endParaRPr lang="en-US" sz="1350" dirty="0"/>
          </a:p>
        </p:txBody>
      </p:sp>
      <p:sp>
        <p:nvSpPr>
          <p:cNvPr id="9" name="Text 5"/>
          <p:cNvSpPr/>
          <p:nvPr/>
        </p:nvSpPr>
        <p:spPr>
          <a:xfrm>
            <a:off x="502920" y="6446520"/>
            <a:ext cx="8686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</a:rPr>
              <a:t>Handling Execution Overruns • 10 min seminar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11</a:t>
            </a:fld>
            <a:endParaRPr lang="en-US"/>
          </a:p>
        </p:txBody>
      </p:sp>
      <p:sp>
        <p:nvSpPr>
          <p:cNvPr id="10" name="Text 13">
            <a:extLst>
              <a:ext uri="{FF2B5EF4-FFF2-40B4-BE49-F238E27FC236}">
                <a16:creationId xmlns:a16="http://schemas.microsoft.com/office/drawing/2014/main" id="{274B2EB6-A021-E93B-1F16-41287946BF3D}"/>
              </a:ext>
            </a:extLst>
          </p:cNvPr>
          <p:cNvSpPr/>
          <p:nvPr/>
        </p:nvSpPr>
        <p:spPr>
          <a:xfrm>
            <a:off x="621792" y="6080760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36878"/>
                </a:solidFill>
              </a:rPr>
              <a:t>Christian Percival • Hochschule Hamm-Lippstadt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0698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12B3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is the optimal solution?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21208" y="850392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36878"/>
                </a:solidFill>
              </a:rPr>
              <a:t>Not one fixed period for everything — combine normal-case speed with bounded overrun handling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02920" y="1188720"/>
            <a:ext cx="1115568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Shape 3"/>
          <p:cNvSpPr/>
          <p:nvPr/>
        </p:nvSpPr>
        <p:spPr>
          <a:xfrm>
            <a:off x="594360" y="1508760"/>
            <a:ext cx="3429000" cy="3246120"/>
          </a:xfrm>
          <a:prstGeom prst="roundRect">
            <a:avLst>
              <a:gd name="adj" fmla="val 1690"/>
            </a:avLst>
          </a:prstGeom>
          <a:solidFill>
            <a:srgbClr val="E6F4F7"/>
          </a:solidFill>
          <a:ln w="12700">
            <a:solidFill>
              <a:srgbClr val="BAE6F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" name="Text 4"/>
          <p:cNvSpPr/>
          <p:nvPr/>
        </p:nvSpPr>
        <p:spPr>
          <a:xfrm>
            <a:off x="777240" y="1783080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E3B4C"/>
                </a:solidFill>
              </a:rPr>
              <a:t>WCET only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14400" y="242316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2B3C"/>
                </a:solidFill>
              </a:rPr>
              <a:t>✓ Safe, simple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14400" y="324612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2B3C"/>
                </a:solidFill>
              </a:rPr>
              <a:t>⚠ Pessimistic; lower sampling frequency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434840" y="1508760"/>
            <a:ext cx="3429000" cy="3246120"/>
          </a:xfrm>
          <a:prstGeom prst="roundRect">
            <a:avLst>
              <a:gd name="adj" fmla="val 1690"/>
            </a:avLst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" name="Text 8"/>
          <p:cNvSpPr/>
          <p:nvPr/>
        </p:nvSpPr>
        <p:spPr>
          <a:xfrm>
            <a:off x="4617720" y="1783080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DC2626"/>
                </a:solidFill>
              </a:rPr>
              <a:t>Normal only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754880" y="242316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2B3C"/>
                </a:solidFill>
              </a:rPr>
              <a:t>✓ Fast normal-case response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754880" y="324612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2B3C"/>
                </a:solidFill>
              </a:rPr>
              <a:t>⚠ Unsafe during hard frames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8275320" y="1508760"/>
            <a:ext cx="3429000" cy="3246120"/>
          </a:xfrm>
          <a:prstGeom prst="roundRect">
            <a:avLst>
              <a:gd name="adj" fmla="val 1690"/>
            </a:avLst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4" name="Text 12"/>
          <p:cNvSpPr/>
          <p:nvPr/>
        </p:nvSpPr>
        <p:spPr>
          <a:xfrm>
            <a:off x="8458200" y="1783080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6A34A"/>
                </a:solidFill>
              </a:rPr>
              <a:t>CBS/CBShd-style handling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8595360" y="242316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2B3C"/>
                </a:solidFill>
              </a:rPr>
              <a:t>✓ Balances efficiency and protection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595360" y="324612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2B3C"/>
                </a:solidFill>
              </a:rPr>
              <a:t>⚠ Requires scheduler support and overhead analysis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1920240" y="5166360"/>
            <a:ext cx="8321040" cy="594360"/>
          </a:xfrm>
          <a:prstGeom prst="roundRect">
            <a:avLst>
              <a:gd name="adj" fmla="val 9231"/>
            </a:avLst>
          </a:prstGeom>
          <a:solidFill>
            <a:srgbClr val="0E3B4C"/>
          </a:solidFill>
          <a:ln w="12700">
            <a:solidFill>
              <a:srgbClr val="0E3B4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8" name="Text 16"/>
          <p:cNvSpPr/>
          <p:nvPr/>
        </p:nvSpPr>
        <p:spPr>
          <a:xfrm>
            <a:off x="2148840" y="5358384"/>
            <a:ext cx="7863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</a:rPr>
              <a:t>Optimal idea for variable workloads: reserve bandwidth, detect budget exhaustion, postpone deadlines only when needed.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502920" y="6446520"/>
            <a:ext cx="8686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</a:rPr>
              <a:t>Handling Execution Overruns • 10 min seminar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12</a:t>
            </a:fld>
            <a:endParaRPr lang="en-US"/>
          </a:p>
        </p:txBody>
      </p:sp>
      <p:sp>
        <p:nvSpPr>
          <p:cNvPr id="20" name="Text 13">
            <a:extLst>
              <a:ext uri="{FF2B5EF4-FFF2-40B4-BE49-F238E27FC236}">
                <a16:creationId xmlns:a16="http://schemas.microsoft.com/office/drawing/2014/main" id="{AB7BA03C-E18F-FF19-6F45-40F95876B460}"/>
              </a:ext>
            </a:extLst>
          </p:cNvPr>
          <p:cNvSpPr/>
          <p:nvPr/>
        </p:nvSpPr>
        <p:spPr>
          <a:xfrm>
            <a:off x="621792" y="6080760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36878"/>
                </a:solidFill>
              </a:rPr>
              <a:t>Christian Percival • Hochschule Hamm-Lippstadt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0698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12B3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Limitations, learning outcome, and discussion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21208" y="850392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36878"/>
                </a:solidFill>
              </a:rPr>
              <a:t>What this demo proves — and what it does not claim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02920" y="1188720"/>
            <a:ext cx="1115568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Text 3"/>
          <p:cNvSpPr/>
          <p:nvPr/>
        </p:nvSpPr>
        <p:spPr>
          <a:xfrm>
            <a:off x="685800" y="1417320"/>
            <a:ext cx="5486400" cy="19202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550" dirty="0">
                <a:solidFill>
                  <a:srgbClr val="112B3C"/>
                </a:solidFill>
              </a:rPr>
              <a:t>The prototype is a simulation, not a kernel-level hard real-time scheduler.</a:t>
            </a:r>
            <a:endParaRPr lang="en-US" sz="1550" dirty="0"/>
          </a:p>
          <a:p>
            <a:pPr marL="152400" indent="-152400">
              <a:buSzPct val="100000"/>
              <a:buChar char="•"/>
            </a:pPr>
            <a:r>
              <a:rPr lang="en-US" sz="1550" dirty="0">
                <a:solidFill>
                  <a:srgbClr val="112B3C"/>
                </a:solidFill>
              </a:rPr>
              <a:t>Timing results depend on Python, Windows/Linux scheduling, CPU load, and OpenCV behavior.</a:t>
            </a:r>
            <a:endParaRPr lang="en-US" sz="1550" dirty="0"/>
          </a:p>
          <a:p>
            <a:pPr marL="152400" indent="-152400">
              <a:buSzPct val="100000"/>
              <a:buChar char="•"/>
            </a:pPr>
            <a:r>
              <a:rPr lang="en-US" sz="1550" dirty="0">
                <a:solidFill>
                  <a:srgbClr val="112B3C"/>
                </a:solidFill>
              </a:rPr>
              <a:t>A real system would need validated WCET, kernel support, and resource-sharing analysis.</a:t>
            </a:r>
            <a:endParaRPr lang="en-US" sz="1550" dirty="0"/>
          </a:p>
          <a:p>
            <a:pPr marL="152400" indent="-152400">
              <a:buSzPct val="100000"/>
              <a:buChar char="•"/>
            </a:pPr>
            <a:r>
              <a:rPr lang="en-US" sz="1550" dirty="0">
                <a:solidFill>
                  <a:srgbClr val="112B3C"/>
                </a:solidFill>
              </a:rPr>
              <a:t>But the demo clearly shows the tradeoff: WCET safety vs normal-case frequency vs adaptive handling.</a:t>
            </a:r>
            <a:endParaRPr lang="en-US" sz="1550" dirty="0"/>
          </a:p>
        </p:txBody>
      </p:sp>
      <p:sp>
        <p:nvSpPr>
          <p:cNvPr id="6" name="Text 4"/>
          <p:cNvSpPr/>
          <p:nvPr/>
        </p:nvSpPr>
        <p:spPr>
          <a:xfrm>
            <a:off x="6720840" y="144475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12B3C"/>
                </a:solidFill>
              </a:rPr>
              <a:t>Key references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720840" y="1874520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1120" dirty="0">
                <a:solidFill>
                  <a:srgbClr val="112B3C"/>
                </a:solidFill>
              </a:rPr>
              <a:t>[1] Caccamo, Buttazzo, Sha — Handling Execution Overruns in Hard Real-Time Control Systems, 2002</a:t>
            </a:r>
            <a:endParaRPr lang="en-US" sz="1120" dirty="0"/>
          </a:p>
        </p:txBody>
      </p:sp>
      <p:sp>
        <p:nvSpPr>
          <p:cNvPr id="8" name="Text 6"/>
          <p:cNvSpPr/>
          <p:nvPr/>
        </p:nvSpPr>
        <p:spPr>
          <a:xfrm>
            <a:off x="6720840" y="2377440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20" dirty="0">
                <a:solidFill>
                  <a:srgbClr val="112B3C"/>
                </a:solidFill>
              </a:rPr>
              <a:t>[2] Buttazzo — Hard Real-Time Computing Systems, 4th ed., 2024</a:t>
            </a:r>
            <a:endParaRPr lang="en-US" sz="1120" dirty="0"/>
          </a:p>
        </p:txBody>
      </p:sp>
      <p:sp>
        <p:nvSpPr>
          <p:cNvPr id="9" name="Text 7"/>
          <p:cNvSpPr/>
          <p:nvPr/>
        </p:nvSpPr>
        <p:spPr>
          <a:xfrm>
            <a:off x="6720840" y="2880360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20" dirty="0">
                <a:solidFill>
                  <a:srgbClr val="112B3C"/>
                </a:solidFill>
              </a:rPr>
              <a:t>[3] Abeni &amp; Buttazzo — Constant Bandwidth Server, RTSS 1998</a:t>
            </a:r>
            <a:endParaRPr lang="en-US" sz="1120" dirty="0"/>
          </a:p>
        </p:txBody>
      </p:sp>
      <p:sp>
        <p:nvSpPr>
          <p:cNvPr id="10" name="Text 8"/>
          <p:cNvSpPr/>
          <p:nvPr/>
        </p:nvSpPr>
        <p:spPr>
          <a:xfrm>
            <a:off x="6720840" y="3383280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20" dirty="0">
                <a:solidFill>
                  <a:srgbClr val="112B3C"/>
                </a:solidFill>
              </a:rPr>
              <a:t>[4] Liu &amp; Layland — EDF and scheduling foundations, 1973</a:t>
            </a:r>
            <a:endParaRPr lang="en-US" sz="1120" dirty="0"/>
          </a:p>
        </p:txBody>
      </p:sp>
      <p:sp>
        <p:nvSpPr>
          <p:cNvPr id="11" name="Shape 9"/>
          <p:cNvSpPr/>
          <p:nvPr/>
        </p:nvSpPr>
        <p:spPr>
          <a:xfrm>
            <a:off x="1463040" y="4389120"/>
            <a:ext cx="9326880" cy="731520"/>
          </a:xfrm>
          <a:prstGeom prst="roundRect">
            <a:avLst>
              <a:gd name="adj" fmla="val 7500"/>
            </a:avLst>
          </a:prstGeom>
          <a:solidFill>
            <a:srgbClr val="E6F4F7"/>
          </a:solidFill>
          <a:ln w="12700">
            <a:solidFill>
              <a:srgbClr val="BAE6F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" name="Text 10"/>
          <p:cNvSpPr/>
          <p:nvPr/>
        </p:nvSpPr>
        <p:spPr>
          <a:xfrm>
            <a:off x="1691640" y="4590288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E3B4C"/>
                </a:solidFill>
              </a:rPr>
              <a:t>Final takeaway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429000" y="4553712"/>
            <a:ext cx="6949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70000" lnSpcReduction="20000"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12B3C"/>
                </a:solidFill>
              </a:rPr>
              <a:t>Overruns are not eliminated; they are isolated and accounted for so that timing behavior stays controlled.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02920" y="6446520"/>
            <a:ext cx="8686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</a:rPr>
              <a:t>Questions?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13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297</TotalTime>
  <Words>1196</Words>
  <Application>Microsoft Office PowerPoint</Application>
  <PresentationFormat>Widescreen</PresentationFormat>
  <Paragraphs>197</Paragraphs>
  <Slides>13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Aptos</vt:lpstr>
      <vt:lpstr>Aptos Display</vt:lpstr>
      <vt:lpstr>Arial</vt:lpstr>
      <vt:lpstr>Office Theme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Hochschule Hamm-Lippstadt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Handling Execution Overruns Seminar Presentation</dc:title>
  <dc:subject>Handling Execution Overruns in Hard Real-Time Control Systems</dc:subject>
  <dc:creator>Christian Percival</dc:creator>
  <cp:lastModifiedBy>Christian Percival</cp:lastModifiedBy>
  <cp:revision>5</cp:revision>
  <dcterms:created xsi:type="dcterms:W3CDTF">2026-06-16T13:34:43Z</dcterms:created>
  <dcterms:modified xsi:type="dcterms:W3CDTF">2026-06-17T16:28:54Z</dcterms:modified>
</cp:coreProperties>
</file>