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8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395743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 w="12700">
            <a:solidFill>
              <a:srgbClr val="F7FA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0" y="6638544"/>
            <a:ext cx="12191695" cy="219456"/>
          </a:xfrm>
          <a:prstGeom prst="rect">
            <a:avLst/>
          </a:prstGeom>
          <a:solidFill>
            <a:srgbClr val="0E3B4C"/>
          </a:solidFill>
          <a:ln w="12700">
            <a:solidFill>
              <a:srgbClr val="0E3B4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01752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E7490"/>
                </a:solidFill>
              </a:rPr>
              <a:t>SEMINAR • Handling Execution Overruns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94360" y="1051560"/>
            <a:ext cx="5669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12B3C"/>
                </a:solidFill>
              </a:rPr>
              <a:t>Handling Execution</a:t>
            </a:r>
            <a:endParaRPr lang="en-US" sz="4000" dirty="0"/>
          </a:p>
          <a:p>
            <a:pPr marL="0" indent="0">
              <a:buNone/>
            </a:pPr>
            <a:r>
              <a:rPr lang="en-US" sz="4000" b="1" dirty="0">
                <a:solidFill>
                  <a:srgbClr val="112B3C"/>
                </a:solidFill>
              </a:rPr>
              <a:t>Overruns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21792" y="265176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536878"/>
                </a:solidFill>
              </a:rPr>
              <a:t>Concepts, CBS/CBShd intuition, and a small image-processing simulation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21792" y="3310128"/>
            <a:ext cx="1828800" cy="320040"/>
          </a:xfrm>
          <a:prstGeom prst="roundRect">
            <a:avLst>
              <a:gd name="adj" fmla="val 14286"/>
            </a:avLst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694944" y="3383280"/>
            <a:ext cx="16824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651760" y="3310128"/>
            <a:ext cx="1783080" cy="320040"/>
          </a:xfrm>
          <a:prstGeom prst="roundRect">
            <a:avLst>
              <a:gd name="adj" fmla="val 14286"/>
            </a:avLst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2724912" y="3383280"/>
            <a:ext cx="1636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720840" y="2057400"/>
            <a:ext cx="914400" cy="640080"/>
          </a:xfrm>
          <a:prstGeom prst="chevron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8092440" y="2057400"/>
            <a:ext cx="914400" cy="640080"/>
          </a:xfrm>
          <a:prstGeom prst="chevron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9464040" y="2057400"/>
            <a:ext cx="914400" cy="640080"/>
          </a:xfrm>
          <a:prstGeom prst="chevron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6446520" y="34290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12B3C"/>
                </a:solidFill>
              </a:rPr>
              <a:t>Normal task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909560" y="34290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12B3C"/>
                </a:solidFill>
              </a:rPr>
              <a:t>Overrun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281160" y="342900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12B3C"/>
                </a:solidFill>
              </a:rPr>
              <a:t>Handled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21792" y="608076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36878"/>
                </a:solidFill>
              </a:rPr>
              <a:t>Christian Percival • Hochschule Hamm-Lippstadt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02920" y="6446520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</a:rPr>
              <a:t>Main message: WCET is safe but pessimistic; controlled overrun handling keeps better normal-case performance.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0241280" cy="411480"/>
          </a:xfrm>
          <a:prstGeom prst="rect">
            <a:avLst/>
          </a:prstGeom>
          <a:noFill/>
        </p:spPr>
        <p:txBody>
          <a:bodyPr wrap="square" lIns="73152" tIns="36576" rIns="73152" bIns="36576">
            <a:spAutoFit/>
          </a:bodyPr>
          <a:lstStyle/>
          <a:p>
            <a:pPr algn="l"/>
            <a:r>
              <a:rPr sz="3000" b="1">
                <a:solidFill>
                  <a:srgbClr val="1E3A5F"/>
                </a:solidFill>
              </a:rPr>
              <a:t>What is an execution overrun?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13232"/>
            <a:ext cx="10332720" cy="301752"/>
          </a:xfrm>
          <a:prstGeom prst="rect">
            <a:avLst/>
          </a:prstGeom>
          <a:noFill/>
        </p:spPr>
        <p:txBody>
          <a:bodyPr wrap="square" lIns="73152" tIns="36576" rIns="73152" bIns="36576">
            <a:spAutoFit/>
          </a:bodyPr>
          <a:lstStyle/>
          <a:p>
            <a:pPr algn="l"/>
            <a:r>
              <a:rPr sz="1400" b="0">
                <a:solidFill>
                  <a:srgbClr val="4B4B4B"/>
                </a:solidFill>
              </a:rPr>
              <a:t>A timing problem: the task may still compute the correct result, but it uses more CPU time than the system planned for.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143000"/>
            <a:ext cx="10058400" cy="868680"/>
          </a:xfrm>
          <a:prstGeom prst="roundRect">
            <a:avLst/>
          </a:prstGeom>
          <a:solidFill>
            <a:srgbClr val="ECF4FC"/>
          </a:solidFill>
          <a:ln w="15240">
            <a:solidFill>
              <a:srgbClr val="B4C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271016"/>
            <a:ext cx="9601200" cy="457200"/>
          </a:xfrm>
          <a:prstGeom prst="rect">
            <a:avLst/>
          </a:prstGeom>
          <a:noFill/>
        </p:spPr>
        <p:txBody>
          <a:bodyPr wrap="square" lIns="73152" tIns="36576" rIns="73152" bIns="36576">
            <a:spAutoFit/>
          </a:bodyPr>
          <a:lstStyle/>
          <a:p>
            <a:pPr algn="ctr"/>
            <a:r>
              <a:rPr sz="2200" b="1">
                <a:solidFill>
                  <a:srgbClr val="1E3A5F"/>
                </a:solidFill>
              </a:rPr>
              <a:t>Overrun = actual execution time exceeds the normal/reserved budget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06040" y="1719072"/>
            <a:ext cx="6126480" cy="219456"/>
          </a:xfrm>
          <a:prstGeom prst="rect">
            <a:avLst/>
          </a:prstGeom>
          <a:noFill/>
        </p:spPr>
        <p:txBody>
          <a:bodyPr wrap="square" lIns="73152" tIns="36576" rIns="73152" bIns="36576">
            <a:spAutoFit/>
          </a:bodyPr>
          <a:lstStyle/>
          <a:p>
            <a:pPr algn="ctr"/>
            <a:r>
              <a:rPr sz="1200" b="0">
                <a:solidFill>
                  <a:srgbClr val="373737"/>
                </a:solidFill>
              </a:rPr>
              <a:t>formal idea:  cᵢ &gt; cᵢⁿ   and   overrun amount = cᵢ − cᵢⁿ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40280"/>
            <a:ext cx="4754880" cy="1965960"/>
          </a:xfrm>
          <a:prstGeom prst="roundRect">
            <a:avLst/>
          </a:prstGeom>
          <a:solidFill>
            <a:srgbClr val="FAFAFA"/>
          </a:solidFill>
          <a:ln w="15240"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2395728"/>
            <a:ext cx="4251960" cy="292608"/>
          </a:xfrm>
          <a:prstGeom prst="rect">
            <a:avLst/>
          </a:prstGeom>
          <a:noFill/>
        </p:spPr>
        <p:txBody>
          <a:bodyPr wrap="square" lIns="73152" tIns="36576" rIns="73152" bIns="36576">
            <a:spAutoFit/>
          </a:bodyPr>
          <a:lstStyle/>
          <a:p>
            <a:pPr algn="ctr"/>
            <a:r>
              <a:rPr sz="1800" b="1">
                <a:solidFill>
                  <a:srgbClr val="2EA043"/>
                </a:solidFill>
              </a:rPr>
              <a:t>Normal execution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0" y="3035808"/>
            <a:ext cx="3977639" cy="109728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1005840" y="2907792"/>
            <a:ext cx="2240280" cy="384048"/>
          </a:xfrm>
          <a:prstGeom prst="roundRect">
            <a:avLst/>
          </a:prstGeom>
          <a:solidFill>
            <a:srgbClr val="2C7BB6"/>
          </a:solidFill>
          <a:ln w="15240">
            <a:solidFill>
              <a:srgbClr val="285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24128" y="2971800"/>
            <a:ext cx="2194560" cy="164592"/>
          </a:xfrm>
          <a:prstGeom prst="rect">
            <a:avLst/>
          </a:prstGeom>
          <a:noFill/>
        </p:spPr>
        <p:txBody>
          <a:bodyPr wrap="square" lIns="73152" tIns="36576" rIns="73152" bIns="36576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actual runtime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94760" y="2761488"/>
            <a:ext cx="32004" cy="731520"/>
          </a:xfrm>
          <a:prstGeom prst="rect">
            <a:avLst/>
          </a:prstGeom>
          <a:solidFill>
            <a:srgbClr val="141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337560" y="3511296"/>
            <a:ext cx="987552" cy="182880"/>
          </a:xfrm>
          <a:prstGeom prst="rect">
            <a:avLst/>
          </a:prstGeom>
          <a:noFill/>
        </p:spPr>
        <p:txBody>
          <a:bodyPr wrap="square" lIns="73152" tIns="36576" rIns="73152" bIns="36576">
            <a:spAutoFit/>
          </a:bodyPr>
          <a:lstStyle/>
          <a:p>
            <a:pPr algn="ctr"/>
            <a:r>
              <a:rPr sz="1100" b="0">
                <a:solidFill>
                  <a:srgbClr val="373737"/>
                </a:solidFill>
              </a:rPr>
              <a:t>budget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703320"/>
            <a:ext cx="4206240" cy="320040"/>
          </a:xfrm>
          <a:prstGeom prst="rect">
            <a:avLst/>
          </a:prstGeom>
          <a:noFill/>
        </p:spPr>
        <p:txBody>
          <a:bodyPr wrap="square" lIns="73152" tIns="36576" rIns="73152" bIns="36576">
            <a:spAutoFit/>
          </a:bodyPr>
          <a:lstStyle/>
          <a:p>
            <a:pPr algn="ctr"/>
            <a:r>
              <a:rPr sz="1300" b="0">
                <a:solidFill>
                  <a:srgbClr val="3C3C3C"/>
                </a:solidFill>
              </a:rPr>
              <a:t>Finishes inside budget → next tasks can run as planned.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77840" y="2240280"/>
            <a:ext cx="5029200" cy="1965960"/>
          </a:xfrm>
          <a:prstGeom prst="roundRect">
            <a:avLst/>
          </a:prstGeom>
          <a:solidFill>
            <a:srgbClr val="FFFAF5"/>
          </a:solidFill>
          <a:ln w="15240">
            <a:solidFill>
              <a:srgbClr val="E6C8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806440" y="2395728"/>
            <a:ext cx="4572000" cy="292608"/>
          </a:xfrm>
          <a:prstGeom prst="rect">
            <a:avLst/>
          </a:prstGeom>
          <a:noFill/>
        </p:spPr>
        <p:txBody>
          <a:bodyPr wrap="square" lIns="73152" tIns="36576" rIns="73152" bIns="36576">
            <a:spAutoFit/>
          </a:bodyPr>
          <a:lstStyle/>
          <a:p>
            <a:pPr algn="ctr"/>
            <a:r>
              <a:rPr sz="1800" b="1">
                <a:solidFill>
                  <a:srgbClr val="E67E22"/>
                </a:solidFill>
              </a:rPr>
              <a:t>Execution overrun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89320" y="3035808"/>
            <a:ext cx="4206240" cy="109728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5989320" y="2907792"/>
            <a:ext cx="2194560" cy="384048"/>
          </a:xfrm>
          <a:prstGeom prst="roundRect">
            <a:avLst/>
          </a:prstGeom>
          <a:solidFill>
            <a:srgbClr val="2C7BB6"/>
          </a:solidFill>
          <a:ln w="15240">
            <a:solidFill>
              <a:srgbClr val="285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183879" y="2907792"/>
            <a:ext cx="1600200" cy="384048"/>
          </a:xfrm>
          <a:prstGeom prst="roundRect">
            <a:avLst/>
          </a:prstGeom>
          <a:solidFill>
            <a:srgbClr val="E67E22"/>
          </a:solidFill>
          <a:ln w="15240">
            <a:solidFill>
              <a:srgbClr val="AA50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016752" y="2971800"/>
            <a:ext cx="2057400" cy="164592"/>
          </a:xfrm>
          <a:prstGeom prst="rect">
            <a:avLst/>
          </a:prstGeom>
          <a:noFill/>
        </p:spPr>
        <p:txBody>
          <a:bodyPr wrap="square" lIns="73152" tIns="36576" rIns="73152" bIns="36576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normal part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2971800"/>
            <a:ext cx="1508760" cy="164592"/>
          </a:xfrm>
          <a:prstGeom prst="rect">
            <a:avLst/>
          </a:prstGeom>
          <a:noFill/>
        </p:spPr>
        <p:txBody>
          <a:bodyPr wrap="square" lIns="73152" tIns="36576" rIns="73152" bIns="36576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extra time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83879" y="2761488"/>
            <a:ext cx="32004" cy="731520"/>
          </a:xfrm>
          <a:prstGeom prst="rect">
            <a:avLst/>
          </a:prstGeom>
          <a:solidFill>
            <a:srgbClr val="141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726679" y="3511296"/>
            <a:ext cx="987552" cy="182880"/>
          </a:xfrm>
          <a:prstGeom prst="rect">
            <a:avLst/>
          </a:prstGeom>
          <a:noFill/>
        </p:spPr>
        <p:txBody>
          <a:bodyPr wrap="square" lIns="73152" tIns="36576" rIns="73152" bIns="36576">
            <a:spAutoFit/>
          </a:bodyPr>
          <a:lstStyle/>
          <a:p>
            <a:pPr algn="ctr"/>
            <a:r>
              <a:rPr sz="1100" b="0">
                <a:solidFill>
                  <a:srgbClr val="373737"/>
                </a:solidFill>
              </a:rPr>
              <a:t>budget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97880" y="3703320"/>
            <a:ext cx="4572000" cy="320040"/>
          </a:xfrm>
          <a:prstGeom prst="rect">
            <a:avLst/>
          </a:prstGeom>
          <a:noFill/>
        </p:spPr>
        <p:txBody>
          <a:bodyPr wrap="square" lIns="73152" tIns="36576" rIns="73152" bIns="36576">
            <a:spAutoFit/>
          </a:bodyPr>
          <a:lstStyle/>
          <a:p>
            <a:pPr algn="ctr"/>
            <a:r>
              <a:rPr sz="1300" b="0">
                <a:solidFill>
                  <a:srgbClr val="3C3C3C"/>
                </a:solidFill>
              </a:rPr>
              <a:t>Uses CPU time that was not planned → can delay other jobs.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52760" y="6309360"/>
            <a:ext cx="274320" cy="201168"/>
          </a:xfrm>
          <a:prstGeom prst="rect">
            <a:avLst/>
          </a:prstGeom>
          <a:noFill/>
        </p:spPr>
        <p:txBody>
          <a:bodyPr wrap="square" lIns="73152" tIns="36576" rIns="73152" bIns="36576">
            <a:spAutoFit/>
          </a:bodyPr>
          <a:lstStyle/>
          <a:p>
            <a:pPr algn="r"/>
            <a:r>
              <a:rPr sz="1000" b="0">
                <a:solidFill>
                  <a:srgbClr val="646464"/>
                </a:solidFill>
              </a:rPr>
              <a:t>2</a:t>
            </a:r>
          </a:p>
        </p:txBody>
      </p:sp>
      <p:sp>
        <p:nvSpPr>
          <p:cNvPr id="36" name="Text 13">
            <a:extLst>
              <a:ext uri="{FF2B5EF4-FFF2-40B4-BE49-F238E27FC236}">
                <a16:creationId xmlns:a16="http://schemas.microsoft.com/office/drawing/2014/main" id="{687C410B-FAA2-4C13-E4C9-CC24C3ACA2E7}"/>
              </a:ext>
            </a:extLst>
          </p:cNvPr>
          <p:cNvSpPr/>
          <p:nvPr/>
        </p:nvSpPr>
        <p:spPr>
          <a:xfrm>
            <a:off x="621792" y="608076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36878"/>
                </a:solidFill>
              </a:rPr>
              <a:t>Christian Percival • Hochschule Hamm-Lippstadt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2B3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is an execution overrun?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21208" y="850392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36878"/>
                </a:solidFill>
              </a:rPr>
              <a:t>A task exceeds its expected or reserved execution budget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111556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685800" y="160020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A34A"/>
                </a:solidFill>
              </a:rPr>
              <a:t>Not an overrun: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85800" y="1956816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12B3C"/>
                </a:solidFill>
              </a:rPr>
              <a:t>Finishing earlier than WCET just means unused reserved time.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743200"/>
            <a:ext cx="4023360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960120" y="2532888"/>
            <a:ext cx="1051560" cy="41148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2011680" y="2532888"/>
            <a:ext cx="1920240" cy="411480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978408" y="2651760"/>
            <a:ext cx="1005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</a:rPr>
              <a:t>actual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057400" y="2651760"/>
            <a:ext cx="17373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6A34A"/>
                </a:solidFill>
              </a:rPr>
              <a:t>reserved WCET time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0" y="160020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C2626"/>
                </a:solidFill>
              </a:rPr>
              <a:t>Overrun: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00800" y="1956816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12B3C"/>
                </a:solidFill>
              </a:rPr>
              <a:t>Actual execution time exceeds the normal/reserved budget.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537960" y="2743200"/>
            <a:ext cx="4023360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6675120" y="2532888"/>
            <a:ext cx="1005840" cy="41148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7680960" y="2532888"/>
            <a:ext cx="1325880" cy="41148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6702552" y="2651760"/>
            <a:ext cx="9418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</a:rPr>
              <a:t>budget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726680" y="2651760"/>
            <a:ext cx="1234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</a:rPr>
              <a:t>extra time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85800" y="3931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3B4C"/>
                </a:solidFill>
              </a:rPr>
              <a:t>Formal idea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31520" y="434340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112B3C"/>
                </a:solidFill>
              </a:rPr>
              <a:t>overrun if   cᵢ &gt; cᵢⁿ     and overrun amount = cᵢ − cᵢⁿ</a:t>
            </a:r>
            <a:endParaRPr lang="en-US" sz="2500" dirty="0"/>
          </a:p>
        </p:txBody>
      </p:sp>
      <p:sp>
        <p:nvSpPr>
          <p:cNvPr id="21" name="Text 19"/>
          <p:cNvSpPr/>
          <p:nvPr/>
        </p:nvSpPr>
        <p:spPr>
          <a:xfrm>
            <a:off x="1097280" y="4983480"/>
            <a:ext cx="9601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36878"/>
                </a:solidFill>
              </a:rPr>
              <a:t>where cᵢⁿ is the normal computation budget and cᵢ is the actual execution time.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02920" y="6446520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</a:rPr>
              <a:t>Handling Execution Overruns • 10 min seminar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  <p:sp>
        <p:nvSpPr>
          <p:cNvPr id="23" name="Text 13">
            <a:extLst>
              <a:ext uri="{FF2B5EF4-FFF2-40B4-BE49-F238E27FC236}">
                <a16:creationId xmlns:a16="http://schemas.microsoft.com/office/drawing/2014/main" id="{B18EBED3-B986-056D-51CA-9043FD0120FB}"/>
              </a:ext>
            </a:extLst>
          </p:cNvPr>
          <p:cNvSpPr/>
          <p:nvPr/>
        </p:nvSpPr>
        <p:spPr>
          <a:xfrm>
            <a:off x="621792" y="608076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36878"/>
                </a:solidFill>
              </a:rPr>
              <a:t>Christian Percival • Hochschule Hamm-Lippstadt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2B3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overruns matter in hard real-time control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21208" y="850392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36878"/>
                </a:solidFill>
              </a:rPr>
              <a:t>One long job can break timing guarantees if it is not isolated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111556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685800" y="1463040"/>
            <a:ext cx="5120640" cy="1828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152400" indent="-152400">
              <a:buSzPct val="100000"/>
              <a:buChar char="•"/>
            </a:pPr>
            <a:r>
              <a:rPr lang="en-US" sz="1800" dirty="0">
                <a:solidFill>
                  <a:srgbClr val="112B3C"/>
                </a:solidFill>
              </a:rPr>
              <a:t>Hard real-time: a late result can be wrong, not just slow.</a:t>
            </a:r>
            <a:endParaRPr lang="en-US" sz="1800" dirty="0"/>
          </a:p>
          <a:p>
            <a:pPr marL="152400" indent="-152400">
              <a:buSzPct val="100000"/>
              <a:buChar char="•"/>
            </a:pPr>
            <a:r>
              <a:rPr lang="en-US" sz="1800" dirty="0">
                <a:solidFill>
                  <a:srgbClr val="112B3C"/>
                </a:solidFill>
              </a:rPr>
              <a:t>WCET guarantees are safe, but often pessimistic when worst case is rare.</a:t>
            </a:r>
            <a:endParaRPr lang="en-US" sz="1800" dirty="0"/>
          </a:p>
          <a:p>
            <a:pPr marL="152400" indent="-152400">
              <a:buSzPct val="100000"/>
              <a:buChar char="•"/>
            </a:pPr>
            <a:r>
              <a:rPr lang="en-US" sz="1800" dirty="0">
                <a:solidFill>
                  <a:srgbClr val="112B3C"/>
                </a:solidFill>
              </a:rPr>
              <a:t>Normal-case scheduling improves responsiveness, but overruns can cause deadline misses.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85800" y="338328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2B3C"/>
                </a:solidFill>
              </a:rPr>
              <a:t>Unsafe normal-only timeline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68680" y="3886200"/>
            <a:ext cx="777240" cy="347472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1874520" y="3886200"/>
            <a:ext cx="777240" cy="347472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2880360" y="3886200"/>
            <a:ext cx="777240" cy="34747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3886200" y="3886200"/>
            <a:ext cx="777240" cy="347472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4892040" y="3886200"/>
            <a:ext cx="777240" cy="347472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3657600" y="3886200"/>
            <a:ext cx="1234440" cy="347472"/>
          </a:xfrm>
          <a:prstGeom prst="rect">
            <a:avLst/>
          </a:prstGeom>
          <a:solidFill>
            <a:srgbClr val="FECACA"/>
          </a:solidFill>
          <a:ln w="1270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2971800" y="438912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C2626"/>
                </a:solidFill>
              </a:rPr>
              <a:t>overrun delays next jobs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68680" y="4617720"/>
            <a:ext cx="585216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6583680" y="1508760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DC2626"/>
                </a:solidFill>
              </a:rPr>
              <a:t>Safety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583680" y="2093976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536878"/>
                </a:solidFill>
              </a:rPr>
              <a:t>requires bounded interference</a:t>
            </a:r>
            <a:endParaRPr lang="en-US" sz="1020" dirty="0"/>
          </a:p>
        </p:txBody>
      </p:sp>
      <p:sp>
        <p:nvSpPr>
          <p:cNvPr id="17" name="Text 15"/>
          <p:cNvSpPr/>
          <p:nvPr/>
        </p:nvSpPr>
        <p:spPr>
          <a:xfrm>
            <a:off x="8503920" y="150876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E7490"/>
                </a:solidFill>
              </a:rPr>
              <a:t>Efficiency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8503920" y="209397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536878"/>
                </a:solidFill>
              </a:rPr>
              <a:t>requires avoiding unused WCET time</a:t>
            </a:r>
            <a:endParaRPr lang="en-US" sz="1020" dirty="0"/>
          </a:p>
        </p:txBody>
      </p:sp>
      <p:sp>
        <p:nvSpPr>
          <p:cNvPr id="19" name="Text 17"/>
          <p:cNvSpPr/>
          <p:nvPr/>
        </p:nvSpPr>
        <p:spPr>
          <a:xfrm>
            <a:off x="7360920" y="3337560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97316"/>
                </a:solidFill>
              </a:rPr>
              <a:t>Control quality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7360920" y="392277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536878"/>
                </a:solidFill>
              </a:rPr>
              <a:t>benefits from higher sample frequency</a:t>
            </a:r>
            <a:endParaRPr lang="en-US" sz="1020" dirty="0"/>
          </a:p>
        </p:txBody>
      </p:sp>
      <p:sp>
        <p:nvSpPr>
          <p:cNvPr id="21" name="Shape 19"/>
          <p:cNvSpPr/>
          <p:nvPr/>
        </p:nvSpPr>
        <p:spPr>
          <a:xfrm>
            <a:off x="6629400" y="4892040"/>
            <a:ext cx="3749040" cy="731520"/>
          </a:xfrm>
          <a:prstGeom prst="roundRect">
            <a:avLst>
              <a:gd name="adj" fmla="val 6250"/>
            </a:avLst>
          </a:prstGeom>
          <a:solidFill>
            <a:srgbClr val="E6F4F7"/>
          </a:solidFill>
          <a:ln w="12700">
            <a:solidFill>
              <a:srgbClr val="E6F4F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6903720" y="5102352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E3B4C"/>
                </a:solidFill>
              </a:rPr>
              <a:t>Goal: isolate overruns without forcing every job to run at WCET frequency.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02920" y="6446520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</a:rPr>
              <a:t>Handling Execution Overruns • 10 min seminar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4" name="Text 13">
            <a:extLst>
              <a:ext uri="{FF2B5EF4-FFF2-40B4-BE49-F238E27FC236}">
                <a16:creationId xmlns:a16="http://schemas.microsoft.com/office/drawing/2014/main" id="{A392C1AA-4C23-0821-744C-BFDEE92E07C7}"/>
              </a:ext>
            </a:extLst>
          </p:cNvPr>
          <p:cNvSpPr/>
          <p:nvPr/>
        </p:nvSpPr>
        <p:spPr>
          <a:xfrm>
            <a:off x="621792" y="608076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36878"/>
                </a:solidFill>
              </a:rPr>
              <a:t>Christian Percival • Hochschule Hamm-Lippstadt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2B3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How the optimal idea works: budget + deadline control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21208" y="850392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36878"/>
                </a:solidFill>
              </a:rPr>
              <a:t>Constant Bandwidth Server intuition, with CBShd improving partial overrun handling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111556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594360" y="1874520"/>
            <a:ext cx="2240280" cy="1234440"/>
          </a:xfrm>
          <a:prstGeom prst="roundRect">
            <a:avLst>
              <a:gd name="adj" fmla="val 5926"/>
            </a:avLst>
          </a:prstGeom>
          <a:solidFill>
            <a:srgbClr val="E6F4F7"/>
          </a:solidFill>
          <a:ln w="19050">
            <a:solidFill>
              <a:srgbClr val="BAE6F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731520" y="2075688"/>
            <a:ext cx="1965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E3B4C"/>
                </a:solidFill>
              </a:rPr>
              <a:t>Budget Qs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95528" y="2450592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112B3C"/>
                </a:solidFill>
              </a:rPr>
              <a:t>how much CPU time the task may consume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926080" y="2304288"/>
            <a:ext cx="347472" cy="320040"/>
          </a:xfrm>
          <a:prstGeom prst="chevron">
            <a:avLst/>
          </a:prstGeom>
          <a:solidFill>
            <a:srgbClr val="536878"/>
          </a:solidFill>
          <a:ln w="12700">
            <a:solidFill>
              <a:srgbClr val="53687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3429000" y="1874520"/>
            <a:ext cx="2240280" cy="1234440"/>
          </a:xfrm>
          <a:prstGeom prst="roundRect">
            <a:avLst>
              <a:gd name="adj" fmla="val 5926"/>
            </a:avLst>
          </a:prstGeom>
          <a:solidFill>
            <a:srgbClr val="E6F4F7"/>
          </a:solidFill>
          <a:ln w="19050">
            <a:solidFill>
              <a:srgbClr val="BAE6F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3566160" y="2075688"/>
            <a:ext cx="1965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E3B4C"/>
                </a:solidFill>
              </a:rPr>
              <a:t>Period Ts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630168" y="2450592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112B3C"/>
                </a:solidFill>
              </a:rPr>
              <a:t>how often budget is replenished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760720" y="2304288"/>
            <a:ext cx="347472" cy="320040"/>
          </a:xfrm>
          <a:prstGeom prst="chevron">
            <a:avLst/>
          </a:prstGeom>
          <a:solidFill>
            <a:srgbClr val="536878"/>
          </a:solidFill>
          <a:ln w="12700">
            <a:solidFill>
              <a:srgbClr val="53687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6263640" y="1874520"/>
            <a:ext cx="2240280" cy="1234440"/>
          </a:xfrm>
          <a:prstGeom prst="roundRect">
            <a:avLst>
              <a:gd name="adj" fmla="val 5926"/>
            </a:avLst>
          </a:prstGeom>
          <a:solidFill>
            <a:srgbClr val="E6F4F7"/>
          </a:solidFill>
          <a:ln w="19050">
            <a:solidFill>
              <a:srgbClr val="BAE6F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6400800" y="2075688"/>
            <a:ext cx="1965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E3B4C"/>
                </a:solidFill>
              </a:rPr>
              <a:t>Bandwidth Us=Qs/Ts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464808" y="2450592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112B3C"/>
                </a:solidFill>
              </a:rPr>
              <a:t>long-term CPU share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595360" y="2304288"/>
            <a:ext cx="347472" cy="320040"/>
          </a:xfrm>
          <a:prstGeom prst="chevron">
            <a:avLst/>
          </a:prstGeom>
          <a:solidFill>
            <a:srgbClr val="536878"/>
          </a:solidFill>
          <a:ln w="12700">
            <a:solidFill>
              <a:srgbClr val="53687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9098280" y="1874520"/>
            <a:ext cx="2240280" cy="1234440"/>
          </a:xfrm>
          <a:prstGeom prst="roundRect">
            <a:avLst>
              <a:gd name="adj" fmla="val 5926"/>
            </a:avLst>
          </a:prstGeom>
          <a:solidFill>
            <a:srgbClr val="FFF7ED"/>
          </a:solidFill>
          <a:ln w="19050">
            <a:solidFill>
              <a:srgbClr val="FED7A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9235440" y="2075688"/>
            <a:ext cx="1965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97316"/>
                </a:solidFill>
              </a:rPr>
              <a:t>Deadline postponement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9299448" y="2450592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112B3C"/>
                </a:solidFill>
              </a:rPr>
              <a:t>lowers priority after budget is exhausted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731520" y="388620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6A34A"/>
                </a:solidFill>
              </a:rPr>
              <a:t>Normal case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31520" y="4224528"/>
            <a:ext cx="48463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2B3C"/>
                </a:solidFill>
              </a:rPr>
              <a:t>Task completes within budget → deadline unchanged → high responsiveness.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00800" y="388620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C2626"/>
                </a:solidFill>
              </a:rPr>
              <a:t>Overrun case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00800" y="4224528"/>
            <a:ext cx="5029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2B3C"/>
                </a:solidFill>
              </a:rPr>
              <a:t>Budget exhausted → deadline postponed → task cannot steal unlimited CPU time.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2103120" y="5074920"/>
            <a:ext cx="7863840" cy="502920"/>
          </a:xfrm>
          <a:prstGeom prst="roundRect">
            <a:avLst>
              <a:gd name="adj" fmla="val 10909"/>
            </a:avLst>
          </a:prstGeom>
          <a:solidFill>
            <a:srgbClr val="0E3B4C"/>
          </a:solidFill>
          <a:ln w="12700">
            <a:solidFill>
              <a:srgbClr val="0E3B4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2331720" y="5239512"/>
            <a:ext cx="74066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This is the key: handle the extra time locally, instead of letting it disturb every task.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02920" y="6446520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</a:rPr>
              <a:t>Handling Execution Overruns • 10 min seminar</a:t>
            </a:r>
            <a:endParaRPr lang="en-US" sz="80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5</a:t>
            </a:fld>
            <a:endParaRPr lang="en-US"/>
          </a:p>
        </p:txBody>
      </p:sp>
      <p:sp>
        <p:nvSpPr>
          <p:cNvPr id="28" name="Text 13">
            <a:extLst>
              <a:ext uri="{FF2B5EF4-FFF2-40B4-BE49-F238E27FC236}">
                <a16:creationId xmlns:a16="http://schemas.microsoft.com/office/drawing/2014/main" id="{92969AD9-252E-91E9-FEE8-EA109EF53744}"/>
              </a:ext>
            </a:extLst>
          </p:cNvPr>
          <p:cNvSpPr/>
          <p:nvPr/>
        </p:nvSpPr>
        <p:spPr>
          <a:xfrm>
            <a:off x="621792" y="608076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36878"/>
                </a:solidFill>
              </a:rPr>
              <a:t>Christian Percival • Hochschule Hamm-Lippstadt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99A7E1A-8030-A855-720F-CA1FB2AB99BF}"/>
              </a:ext>
            </a:extLst>
          </p:cNvPr>
          <p:cNvSpPr txBox="1"/>
          <p:nvPr/>
        </p:nvSpPr>
        <p:spPr>
          <a:xfrm>
            <a:off x="1518248" y="612475"/>
            <a:ext cx="800531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1. Guarantee Task A by WCET analysis</a:t>
            </a:r>
          </a:p>
          <a:p>
            <a:r>
              <a:rPr lang="en-GB" dirty="0"/>
              <a:t>2. Use a fallback result, such as the previous valid result</a:t>
            </a:r>
          </a:p>
          <a:p>
            <a:r>
              <a:rPr lang="en-GB" dirty="0"/>
              <a:t>3. Use degraded computation, such as lower image resolution</a:t>
            </a:r>
          </a:p>
          <a:p>
            <a:r>
              <a:rPr lang="en-GB" dirty="0"/>
              <a:t>4. Allocate dedicated CPU/core/bandwidth to the chain</a:t>
            </a:r>
          </a:p>
          <a:p>
            <a:r>
              <a:rPr lang="en-GB" dirty="0"/>
              <a:t>5. </a:t>
            </a:r>
            <a:r>
              <a:rPr lang="en-GB" dirty="0" err="1"/>
              <a:t>Analyze</a:t>
            </a:r>
            <a:r>
              <a:rPr lang="en-GB" dirty="0"/>
              <a:t> the whole chain as one end-to-end deadline</a:t>
            </a:r>
          </a:p>
        </p:txBody>
      </p:sp>
      <p:sp>
        <p:nvSpPr>
          <p:cNvPr id="3" name="Text 13">
            <a:extLst>
              <a:ext uri="{FF2B5EF4-FFF2-40B4-BE49-F238E27FC236}">
                <a16:creationId xmlns:a16="http://schemas.microsoft.com/office/drawing/2014/main" id="{FEDF3D7B-C0C0-6E45-E9B7-B73D299CD24D}"/>
              </a:ext>
            </a:extLst>
          </p:cNvPr>
          <p:cNvSpPr/>
          <p:nvPr/>
        </p:nvSpPr>
        <p:spPr>
          <a:xfrm>
            <a:off x="621792" y="608076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36878"/>
                </a:solidFill>
              </a:rPr>
              <a:t>Christian Percival • Hochschule Hamm-Lippstadt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9234425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2B3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My software implementation: visual-tracking overrun demo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21208" y="850392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36878"/>
                </a:solidFill>
              </a:rPr>
              <a:t>Synthetic images create controlled normal, hard, and worst-case execution paths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111556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502920" y="1554480"/>
            <a:ext cx="1828800" cy="914400"/>
          </a:xfrm>
          <a:prstGeom prst="roundRect">
            <a:avLst>
              <a:gd name="adj" fmla="val 5000"/>
            </a:avLst>
          </a:prstGeom>
          <a:solidFill>
            <a:srgbClr val="E6F4F7"/>
          </a:solidFill>
          <a:ln w="12700">
            <a:solidFill>
              <a:srgbClr val="BAE6F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612648" y="176479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2B3C"/>
                </a:solidFill>
              </a:rPr>
              <a:t>Generate images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12648" y="2075688"/>
            <a:ext cx="1600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536878"/>
                </a:solidFill>
              </a:rPr>
              <a:t>red circle positions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404872" y="1865376"/>
            <a:ext cx="292608" cy="292608"/>
          </a:xfrm>
          <a:prstGeom prst="chevron">
            <a:avLst/>
          </a:prstGeom>
          <a:solidFill>
            <a:srgbClr val="536878"/>
          </a:solidFill>
          <a:ln w="12700">
            <a:solidFill>
              <a:srgbClr val="53687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2834640" y="1554480"/>
            <a:ext cx="1828800" cy="914400"/>
          </a:xfrm>
          <a:prstGeom prst="roundRect">
            <a:avLst>
              <a:gd name="adj" fmla="val 5000"/>
            </a:avLst>
          </a:prstGeom>
          <a:solidFill>
            <a:srgbClr val="E6F4F7"/>
          </a:solidFill>
          <a:ln w="12700">
            <a:solidFill>
              <a:srgbClr val="BAE6F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2944368" y="176479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2B3C"/>
                </a:solidFill>
              </a:rPr>
              <a:t>Search small window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944368" y="2075688"/>
            <a:ext cx="1600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536878"/>
                </a:solidFill>
              </a:rPr>
              <a:t>normal case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36592" y="1865376"/>
            <a:ext cx="292608" cy="292608"/>
          </a:xfrm>
          <a:prstGeom prst="chevron">
            <a:avLst/>
          </a:prstGeom>
          <a:solidFill>
            <a:srgbClr val="536878"/>
          </a:solidFill>
          <a:ln w="12700">
            <a:solidFill>
              <a:srgbClr val="53687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5166360" y="1554480"/>
            <a:ext cx="1828800" cy="914400"/>
          </a:xfrm>
          <a:prstGeom prst="roundRect">
            <a:avLst>
              <a:gd name="adj" fmla="val 5000"/>
            </a:avLst>
          </a:prstGeom>
          <a:solidFill>
            <a:srgbClr val="E6F4F7"/>
          </a:solidFill>
          <a:ln w="12700">
            <a:solidFill>
              <a:srgbClr val="BAE6F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5276088" y="176479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2B3C"/>
                </a:solidFill>
              </a:rPr>
              <a:t>Search medium window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276088" y="2075688"/>
            <a:ext cx="1600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536878"/>
                </a:solidFill>
              </a:rPr>
              <a:t>medium case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068312" y="1865376"/>
            <a:ext cx="292608" cy="292608"/>
          </a:xfrm>
          <a:prstGeom prst="chevron">
            <a:avLst/>
          </a:prstGeom>
          <a:solidFill>
            <a:srgbClr val="536878"/>
          </a:solidFill>
          <a:ln w="12700">
            <a:solidFill>
              <a:srgbClr val="53687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7498080" y="1554480"/>
            <a:ext cx="1828800" cy="914400"/>
          </a:xfrm>
          <a:prstGeom prst="roundRect">
            <a:avLst>
              <a:gd name="adj" fmla="val 5000"/>
            </a:avLst>
          </a:prstGeom>
          <a:solidFill>
            <a:srgbClr val="FFF7ED"/>
          </a:solidFill>
          <a:ln w="12700">
            <a:solidFill>
              <a:srgbClr val="FDBA7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7607808" y="176479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2B3C"/>
                </a:solidFill>
              </a:rPr>
              <a:t>Search full image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607808" y="2075688"/>
            <a:ext cx="1600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536878"/>
                </a:solidFill>
              </a:rPr>
              <a:t>hard / missing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400032" y="1865376"/>
            <a:ext cx="292608" cy="292608"/>
          </a:xfrm>
          <a:prstGeom prst="chevron">
            <a:avLst/>
          </a:prstGeom>
          <a:solidFill>
            <a:srgbClr val="536878"/>
          </a:solidFill>
          <a:ln w="12700">
            <a:solidFill>
              <a:srgbClr val="53687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9829800" y="1554480"/>
            <a:ext cx="1828800" cy="914400"/>
          </a:xfrm>
          <a:prstGeom prst="roundRect">
            <a:avLst>
              <a:gd name="adj" fmla="val 5000"/>
            </a:avLst>
          </a:prstGeom>
          <a:solidFill>
            <a:srgbClr val="FFF7ED"/>
          </a:solidFill>
          <a:ln w="12700">
            <a:solidFill>
              <a:srgbClr val="FDBA7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9939528" y="176479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2B3C"/>
                </a:solidFill>
              </a:rPr>
              <a:t>Measure runtime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939528" y="2075688"/>
            <a:ext cx="1600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536878"/>
                </a:solidFill>
              </a:rPr>
              <a:t>CSV + plots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31520" y="324612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12B3C"/>
                </a:solidFill>
              </a:rPr>
              <a:t>Experiment cases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822960" y="370332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7490"/>
                </a:solidFill>
              </a:rPr>
              <a:t>easy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011680" y="370332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2B3C"/>
                </a:solidFill>
              </a:rPr>
              <a:t>small window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023360" y="370332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36878"/>
                </a:solidFill>
              </a:rPr>
              <a:t>≈0.15 ms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2960" y="417880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7490"/>
                </a:solidFill>
              </a:rPr>
              <a:t>medium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2011680" y="417880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2B3C"/>
                </a:solidFill>
              </a:rPr>
              <a:t>medium window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023360" y="4178808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36878"/>
                </a:solidFill>
              </a:rPr>
              <a:t>≈0.35 ms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22960" y="465429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97316"/>
                </a:solidFill>
              </a:rPr>
              <a:t>hard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2011680" y="4654296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2B3C"/>
                </a:solidFill>
              </a:rPr>
              <a:t>full image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023360" y="465429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36878"/>
                </a:solidFill>
              </a:rPr>
              <a:t>≈8.00 ms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22960" y="5129784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97316"/>
                </a:solidFill>
              </a:rPr>
              <a:t>missing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2011680" y="5129784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2B3C"/>
                </a:solidFill>
              </a:rPr>
              <a:t>full image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4023360" y="512978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36878"/>
                </a:solidFill>
              </a:rPr>
              <a:t>≈7.82 ms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492240" y="3337560"/>
            <a:ext cx="4389120" cy="1737360"/>
          </a:xfrm>
          <a:prstGeom prst="roundRect">
            <a:avLst>
              <a:gd name="adj" fmla="val 3158"/>
            </a:avLst>
          </a:prstGeom>
          <a:solidFill>
            <a:srgbClr val="ECFEFF"/>
          </a:solidFill>
          <a:ln w="12700">
            <a:solidFill>
              <a:srgbClr val="A5F3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Text 36"/>
          <p:cNvSpPr/>
          <p:nvPr/>
        </p:nvSpPr>
        <p:spPr>
          <a:xfrm>
            <a:off x="6720840" y="361188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E3B4C"/>
                </a:solidFill>
              </a:rPr>
              <a:t>Implementation note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6812280" y="397764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500" dirty="0">
                <a:solidFill>
                  <a:srgbClr val="112B3C"/>
                </a:solidFill>
              </a:rPr>
              <a:t>This is not a kernel-level CBS. It is a measurement + scheduling simulation that makes the timing tradeoff visible.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502920" y="6446520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</a:rPr>
              <a:t>Handling Execution Overruns • 10 min seminar</a:t>
            </a:r>
            <a:endParaRPr lang="en-US" sz="800" dirty="0"/>
          </a:p>
        </p:txBody>
      </p:sp>
      <p:sp>
        <p:nvSpPr>
          <p:cNvPr id="4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  <p:sp>
        <p:nvSpPr>
          <p:cNvPr id="42" name="Text 13">
            <a:extLst>
              <a:ext uri="{FF2B5EF4-FFF2-40B4-BE49-F238E27FC236}">
                <a16:creationId xmlns:a16="http://schemas.microsoft.com/office/drawing/2014/main" id="{91C8B4E8-D8D5-1CAC-757C-9B9E3B75B2DB}"/>
              </a:ext>
            </a:extLst>
          </p:cNvPr>
          <p:cNvSpPr/>
          <p:nvPr/>
        </p:nvSpPr>
        <p:spPr>
          <a:xfrm>
            <a:off x="621792" y="608076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36878"/>
                </a:solidFill>
              </a:rPr>
              <a:t>Christian Percival • Hochschule Hamm-Lippstadt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2B3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Implementation architecture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21208" y="850392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36878"/>
                </a:solidFill>
              </a:rPr>
              <a:t>Four small scripts: generate, measure, plot, simulate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111556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685800" y="1417320"/>
            <a:ext cx="3657600" cy="457200"/>
          </a:xfrm>
          <a:prstGeom prst="roundRect">
            <a:avLst>
              <a:gd name="adj" fmla="val 10000"/>
            </a:avLst>
          </a:prstGeom>
          <a:solidFill>
            <a:srgbClr val="E6F4F7"/>
          </a:solidFill>
          <a:ln w="12700">
            <a:solidFill>
              <a:srgbClr val="BAE6F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868680" y="1554480"/>
            <a:ext cx="32918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12B3C"/>
                </a:solidFill>
              </a:rPr>
              <a:t>generate_images.py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663440" y="1490472"/>
            <a:ext cx="6355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12B3C"/>
                </a:solidFill>
              </a:rPr>
              <a:t>Creates 1920×1080 images with easy / medium / hard / missing cases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85800" y="2075688"/>
            <a:ext cx="3657600" cy="457200"/>
          </a:xfrm>
          <a:prstGeom prst="roundRect">
            <a:avLst>
              <a:gd name="adj" fmla="val 10000"/>
            </a:avLst>
          </a:prstGeom>
          <a:solidFill>
            <a:srgbClr val="E6F4F7"/>
          </a:solidFill>
          <a:ln w="12700">
            <a:solidFill>
              <a:srgbClr val="BAE6F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868680" y="2212848"/>
            <a:ext cx="32918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12B3C"/>
                </a:solidFill>
              </a:rPr>
              <a:t>overrun_demo.py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663440" y="2148840"/>
            <a:ext cx="6355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12B3C"/>
                </a:solidFill>
              </a:rPr>
              <a:t>Searches for red object and records execution time with time.perf_counter()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85800" y="2734056"/>
            <a:ext cx="3657600" cy="457200"/>
          </a:xfrm>
          <a:prstGeom prst="roundRect">
            <a:avLst>
              <a:gd name="adj" fmla="val 10000"/>
            </a:avLst>
          </a:prstGeom>
          <a:solidFill>
            <a:srgbClr val="E6F4F7"/>
          </a:solidFill>
          <a:ln w="12700">
            <a:solidFill>
              <a:srgbClr val="BAE6F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868680" y="2871216"/>
            <a:ext cx="32918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12B3C"/>
                </a:solidFill>
              </a:rPr>
              <a:t>plot_results.py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663440" y="2807208"/>
            <a:ext cx="6355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12B3C"/>
                </a:solidFill>
              </a:rPr>
              <a:t>Generates runtime and overrun plots from runtime_log.csv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85800" y="3392424"/>
            <a:ext cx="3657600" cy="457200"/>
          </a:xfrm>
          <a:prstGeom prst="roundRect">
            <a:avLst>
              <a:gd name="adj" fmla="val 10000"/>
            </a:avLst>
          </a:prstGeom>
          <a:solidFill>
            <a:srgbClr val="FFF7ED"/>
          </a:solidFill>
          <a:ln w="12700">
            <a:solidFill>
              <a:srgbClr val="FDBA7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868680" y="3529584"/>
            <a:ext cx="32918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12B3C"/>
                </a:solidFill>
              </a:rPr>
              <a:t>scheduler_simulation.py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663440" y="3465576"/>
            <a:ext cx="6355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12B3C"/>
                </a:solidFill>
              </a:rPr>
              <a:t>Compares WCET, NormalOnly, and OverrunHandled strategies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1097280" y="4434840"/>
            <a:ext cx="9784080" cy="914400"/>
          </a:xfrm>
          <a:prstGeom prst="roundRect">
            <a:avLst>
              <a:gd name="adj" fmla="val 8000"/>
            </a:avLst>
          </a:prstGeom>
          <a:solidFill>
            <a:srgbClr val="0E3B4C"/>
          </a:solidFill>
          <a:ln w="12700">
            <a:solidFill>
              <a:srgbClr val="0E3B4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1325880" y="459028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Simplified overrun rule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371600" y="4919472"/>
            <a:ext cx="9235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if execution_time &gt; normal_budget:  deadline += (execution_time − normal_budget) / bandwidth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502920" y="6446520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</a:rPr>
              <a:t>Handling Execution Overruns • 10 min seminar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  <p:sp>
        <p:nvSpPr>
          <p:cNvPr id="21" name="Text 13">
            <a:extLst>
              <a:ext uri="{FF2B5EF4-FFF2-40B4-BE49-F238E27FC236}">
                <a16:creationId xmlns:a16="http://schemas.microsoft.com/office/drawing/2014/main" id="{C2265F56-F84A-F84B-C170-0B3D416E27C7}"/>
              </a:ext>
            </a:extLst>
          </p:cNvPr>
          <p:cNvSpPr/>
          <p:nvPr/>
        </p:nvSpPr>
        <p:spPr>
          <a:xfrm>
            <a:off x="621792" y="608076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36878"/>
                </a:solidFill>
              </a:rPr>
              <a:t>Christian Percival • Hochschule Hamm-Lippstadt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2B3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Measured workload: input difficulty creates runtime variability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21208" y="850392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36878"/>
                </a:solidFill>
              </a:rPr>
              <a:t>This is the source of overruns in the prototype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111556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5" name="Image 0" descr="/mnt/data/average_runtime_by_difficulty(2)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417320"/>
            <a:ext cx="5120640" cy="3840480"/>
          </a:xfrm>
          <a:prstGeom prst="rect">
            <a:avLst/>
          </a:prstGeom>
        </p:spPr>
      </p:pic>
      <p:pic>
        <p:nvPicPr>
          <p:cNvPr id="6" name="Image 1" descr="/mnt/data/runtime_per_frame(2)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417320"/>
            <a:ext cx="5120640" cy="384048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05840" y="5486400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E7490"/>
                </a:solidFill>
              </a:rPr>
              <a:t>0.15 ms</a:t>
            </a:r>
            <a:endParaRPr lang="en-US" sz="2400" dirty="0"/>
          </a:p>
        </p:txBody>
      </p:sp>
      <p:sp>
        <p:nvSpPr>
          <p:cNvPr id="8" name="Text 4"/>
          <p:cNvSpPr/>
          <p:nvPr/>
        </p:nvSpPr>
        <p:spPr>
          <a:xfrm>
            <a:off x="1005840" y="6071616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536878"/>
                </a:solidFill>
              </a:rPr>
              <a:t>easy avg.</a:t>
            </a:r>
            <a:endParaRPr lang="en-US" sz="1020" dirty="0"/>
          </a:p>
        </p:txBody>
      </p:sp>
      <p:sp>
        <p:nvSpPr>
          <p:cNvPr id="9" name="Text 5"/>
          <p:cNvSpPr/>
          <p:nvPr/>
        </p:nvSpPr>
        <p:spPr>
          <a:xfrm>
            <a:off x="2743200" y="5486400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97316"/>
                </a:solidFill>
              </a:rPr>
              <a:t>8.00 ms</a:t>
            </a:r>
            <a:endParaRPr lang="en-US" sz="2400" dirty="0"/>
          </a:p>
        </p:txBody>
      </p:sp>
      <p:sp>
        <p:nvSpPr>
          <p:cNvPr id="10" name="Text 6"/>
          <p:cNvSpPr/>
          <p:nvPr/>
        </p:nvSpPr>
        <p:spPr>
          <a:xfrm>
            <a:off x="2743200" y="6071616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536878"/>
                </a:solidFill>
              </a:rPr>
              <a:t>hard avg.</a:t>
            </a:r>
            <a:endParaRPr lang="en-US" sz="1020" dirty="0"/>
          </a:p>
        </p:txBody>
      </p:sp>
      <p:sp>
        <p:nvSpPr>
          <p:cNvPr id="11" name="Text 7"/>
          <p:cNvSpPr/>
          <p:nvPr/>
        </p:nvSpPr>
        <p:spPr>
          <a:xfrm>
            <a:off x="4480560" y="5486400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97316"/>
                </a:solidFill>
              </a:rPr>
              <a:t>7.82 ms</a:t>
            </a:r>
            <a:endParaRPr lang="en-US" sz="2400" dirty="0"/>
          </a:p>
        </p:txBody>
      </p:sp>
      <p:sp>
        <p:nvSpPr>
          <p:cNvPr id="12" name="Text 8"/>
          <p:cNvSpPr/>
          <p:nvPr/>
        </p:nvSpPr>
        <p:spPr>
          <a:xfrm>
            <a:off x="4480560" y="607161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536878"/>
                </a:solidFill>
              </a:rPr>
              <a:t>missing avg.</a:t>
            </a:r>
            <a:endParaRPr lang="en-US" sz="1020" dirty="0"/>
          </a:p>
        </p:txBody>
      </p:sp>
      <p:sp>
        <p:nvSpPr>
          <p:cNvPr id="13" name="Text 9"/>
          <p:cNvSpPr/>
          <p:nvPr/>
        </p:nvSpPr>
        <p:spPr>
          <a:xfrm>
            <a:off x="7543800" y="5486400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DC2626"/>
                </a:solidFill>
              </a:rPr>
              <a:t>12.75 ms</a:t>
            </a:r>
            <a:endParaRPr lang="en-US" sz="2400" dirty="0"/>
          </a:p>
        </p:txBody>
      </p:sp>
      <p:sp>
        <p:nvSpPr>
          <p:cNvPr id="14" name="Text 10"/>
          <p:cNvSpPr/>
          <p:nvPr/>
        </p:nvSpPr>
        <p:spPr>
          <a:xfrm>
            <a:off x="7543800" y="607161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536878"/>
                </a:solidFill>
              </a:rPr>
              <a:t>measured WCET</a:t>
            </a:r>
            <a:endParaRPr lang="en-US" sz="1020" dirty="0"/>
          </a:p>
        </p:txBody>
      </p:sp>
      <p:sp>
        <p:nvSpPr>
          <p:cNvPr id="15" name="Text 11"/>
          <p:cNvSpPr/>
          <p:nvPr/>
        </p:nvSpPr>
        <p:spPr>
          <a:xfrm>
            <a:off x="9555480" y="5486400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DC2626"/>
                </a:solidFill>
              </a:rPr>
              <a:t>60</a:t>
            </a:r>
            <a:endParaRPr lang="en-US" sz="2400" dirty="0"/>
          </a:p>
        </p:txBody>
      </p:sp>
      <p:sp>
        <p:nvSpPr>
          <p:cNvPr id="16" name="Text 12"/>
          <p:cNvSpPr/>
          <p:nvPr/>
        </p:nvSpPr>
        <p:spPr>
          <a:xfrm>
            <a:off x="9555480" y="607161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536878"/>
                </a:solidFill>
              </a:rPr>
              <a:t>hard/missing overruns</a:t>
            </a:r>
            <a:endParaRPr lang="en-US" sz="1020" dirty="0"/>
          </a:p>
        </p:txBody>
      </p:sp>
      <p:sp>
        <p:nvSpPr>
          <p:cNvPr id="17" name="Text 13"/>
          <p:cNvSpPr/>
          <p:nvPr/>
        </p:nvSpPr>
        <p:spPr>
          <a:xfrm>
            <a:off x="502920" y="6446520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</a:rPr>
              <a:t>Measured using generated 1920×1080 images; each difficulty has 30 frames.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2B3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Scheduling strategy comparison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21208" y="850392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36878"/>
                </a:solidFill>
              </a:rPr>
              <a:t>Same measured runtimes, different scheduling assumptions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111556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5" name="Image 0" descr="/mnt/data/deadline_misses_by_strategy(1)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543050"/>
            <a:ext cx="3749040" cy="2811780"/>
          </a:xfrm>
          <a:prstGeom prst="rect">
            <a:avLst/>
          </a:prstGeom>
        </p:spPr>
      </p:pic>
      <p:pic>
        <p:nvPicPr>
          <p:cNvPr id="6" name="Image 1" descr="/mnt/data/effective_frequency_by_strategy(2)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1960" y="1543050"/>
            <a:ext cx="3749040" cy="2811780"/>
          </a:xfrm>
          <a:prstGeom prst="rect">
            <a:avLst/>
          </a:prstGeom>
        </p:spPr>
      </p:pic>
      <p:pic>
        <p:nvPicPr>
          <p:cNvPr id="7" name="Image 2" descr="/mnt/data/average_slack_by_strategy(2)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92440" y="1543050"/>
            <a:ext cx="3749040" cy="281178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777240" y="49834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2B3C"/>
                </a:solidFill>
              </a:rPr>
              <a:t>Interpretation</a:t>
            </a:r>
            <a:endParaRPr lang="en-US" sz="1600" dirty="0"/>
          </a:p>
        </p:txBody>
      </p:sp>
      <p:sp>
        <p:nvSpPr>
          <p:cNvPr id="9" name="Text 4"/>
          <p:cNvSpPr/>
          <p:nvPr/>
        </p:nvSpPr>
        <p:spPr>
          <a:xfrm>
            <a:off x="777240" y="5303520"/>
            <a:ext cx="10698480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330" dirty="0">
                <a:solidFill>
                  <a:srgbClr val="112B3C"/>
                </a:solidFill>
              </a:rPr>
              <a:t>WCET has no deadline misses, but runs at only 71.3 Hz because period must cover worst case.</a:t>
            </a:r>
            <a:endParaRPr lang="en-US" sz="1330" dirty="0"/>
          </a:p>
          <a:p>
            <a:pPr marL="152400" indent="-152400">
              <a:buSzPct val="100000"/>
              <a:buChar char="•"/>
            </a:pPr>
            <a:r>
              <a:rPr lang="en-US" sz="1330" dirty="0">
                <a:solidFill>
                  <a:srgbClr val="112B3C"/>
                </a:solidFill>
              </a:rPr>
              <a:t>NormalOnly keeps 500 Hz, but misses 60 deadlines when hard/missing images appear.</a:t>
            </a:r>
            <a:endParaRPr lang="en-US" sz="1330" dirty="0"/>
          </a:p>
          <a:p>
            <a:pPr marL="152400" indent="-152400">
              <a:buSzPct val="100000"/>
              <a:buChar char="•"/>
            </a:pPr>
            <a:r>
              <a:rPr lang="en-US" sz="1330" dirty="0">
                <a:solidFill>
                  <a:srgbClr val="112B3C"/>
                </a:solidFill>
              </a:rPr>
              <a:t>OverrunHandled keeps the 500 Hz nominal period and extends deadlines during overruns in this simulation.</a:t>
            </a:r>
            <a:endParaRPr lang="en-US" sz="1330" dirty="0"/>
          </a:p>
        </p:txBody>
      </p:sp>
      <p:sp>
        <p:nvSpPr>
          <p:cNvPr id="10" name="Text 5"/>
          <p:cNvSpPr/>
          <p:nvPr/>
        </p:nvSpPr>
        <p:spPr>
          <a:xfrm>
            <a:off x="502920" y="6446520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</a:rPr>
              <a:t>Handling Execution Overruns • 10 min seminar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10</a:t>
            </a:fld>
            <a:endParaRPr lang="en-US"/>
          </a:p>
        </p:txBody>
      </p:sp>
      <p:sp>
        <p:nvSpPr>
          <p:cNvPr id="11" name="Text 13">
            <a:extLst>
              <a:ext uri="{FF2B5EF4-FFF2-40B4-BE49-F238E27FC236}">
                <a16:creationId xmlns:a16="http://schemas.microsoft.com/office/drawing/2014/main" id="{7D85E499-1769-48CE-D1EB-E9CBE026D508}"/>
              </a:ext>
            </a:extLst>
          </p:cNvPr>
          <p:cNvSpPr/>
          <p:nvPr/>
        </p:nvSpPr>
        <p:spPr>
          <a:xfrm>
            <a:off x="621792" y="608076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36878"/>
                </a:solidFill>
              </a:rPr>
              <a:t>Christian Percival • Hochschule Hamm-Lippstadt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2B3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the handled strategy helps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21208" y="850392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36878"/>
                </a:solidFill>
              </a:rPr>
              <a:t>It does not make the task faster — it changes what the scheduler does when the budget is exceeded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111556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5" name="Image 0" descr="/mnt/data/runtime_deadline_NormalOnly(2)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40180"/>
            <a:ext cx="5303520" cy="3977640"/>
          </a:xfrm>
          <a:prstGeom prst="rect">
            <a:avLst/>
          </a:prstGeom>
        </p:spPr>
      </p:pic>
      <p:pic>
        <p:nvPicPr>
          <p:cNvPr id="6" name="Image 1" descr="/mnt/data/runtime_deadline_OverrunHandled(2)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440180"/>
            <a:ext cx="5303520" cy="39776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22960" y="56235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DC2626"/>
                </a:solidFill>
              </a:rPr>
              <a:t>NormalOnly: hard/missing frames exceed the 2 ms deadline.</a:t>
            </a:r>
            <a:endParaRPr lang="en-US" sz="1350" dirty="0"/>
          </a:p>
        </p:txBody>
      </p:sp>
      <p:sp>
        <p:nvSpPr>
          <p:cNvPr id="8" name="Text 4"/>
          <p:cNvSpPr/>
          <p:nvPr/>
        </p:nvSpPr>
        <p:spPr>
          <a:xfrm>
            <a:off x="6400800" y="56235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6A34A"/>
                </a:solidFill>
              </a:rPr>
              <a:t>OverrunHandled: budget is exceeded, but deadline is extended locally.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502920" y="6446520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</a:rPr>
              <a:t>Handling Execution Overruns • 10 min seminar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11</a:t>
            </a:fld>
            <a:endParaRPr lang="en-US"/>
          </a:p>
        </p:txBody>
      </p:sp>
      <p:sp>
        <p:nvSpPr>
          <p:cNvPr id="10" name="Text 13">
            <a:extLst>
              <a:ext uri="{FF2B5EF4-FFF2-40B4-BE49-F238E27FC236}">
                <a16:creationId xmlns:a16="http://schemas.microsoft.com/office/drawing/2014/main" id="{274B2EB6-A021-E93B-1F16-41287946BF3D}"/>
              </a:ext>
            </a:extLst>
          </p:cNvPr>
          <p:cNvSpPr/>
          <p:nvPr/>
        </p:nvSpPr>
        <p:spPr>
          <a:xfrm>
            <a:off x="621792" y="608076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36878"/>
                </a:solidFill>
              </a:rPr>
              <a:t>Christian Percival • Hochschule Hamm-Lippstadt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2B3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is the optimal solution?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21208" y="850392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36878"/>
                </a:solidFill>
              </a:rPr>
              <a:t>Not one fixed period for everything — combine normal-case speed with bounded overrun handling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111556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594360" y="1508760"/>
            <a:ext cx="3429000" cy="3246120"/>
          </a:xfrm>
          <a:prstGeom prst="roundRect">
            <a:avLst>
              <a:gd name="adj" fmla="val 1690"/>
            </a:avLst>
          </a:prstGeom>
          <a:solidFill>
            <a:srgbClr val="E6F4F7"/>
          </a:solidFill>
          <a:ln w="12700">
            <a:solidFill>
              <a:srgbClr val="BAE6F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777240" y="178308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E3B4C"/>
                </a:solidFill>
              </a:rPr>
              <a:t>WCET only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24231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12B3C"/>
                </a:solidFill>
              </a:rPr>
              <a:t>✓ Safe, simple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32461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12B3C"/>
                </a:solidFill>
              </a:rPr>
              <a:t>⚠ Pessimistic; lower sampling frequency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434840" y="1508760"/>
            <a:ext cx="3429000" cy="3246120"/>
          </a:xfrm>
          <a:prstGeom prst="roundRect">
            <a:avLst>
              <a:gd name="adj" fmla="val 1690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4617720" y="178308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C2626"/>
                </a:solidFill>
              </a:rPr>
              <a:t>Normal only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754880" y="24231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12B3C"/>
                </a:solidFill>
              </a:rPr>
              <a:t>✓ Fast normal-case response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754880" y="32461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12B3C"/>
                </a:solidFill>
              </a:rPr>
              <a:t>⚠ Unsafe during hard frames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275320" y="1508760"/>
            <a:ext cx="3429000" cy="3246120"/>
          </a:xfrm>
          <a:prstGeom prst="roundRect">
            <a:avLst>
              <a:gd name="adj" fmla="val 1690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8458200" y="178308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A34A"/>
                </a:solidFill>
              </a:rPr>
              <a:t>CBS/CBShd-style handling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595360" y="24231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12B3C"/>
                </a:solidFill>
              </a:rPr>
              <a:t>✓ Balances efficiency and protection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595360" y="32461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12B3C"/>
                </a:solidFill>
              </a:rPr>
              <a:t>⚠ Requires scheduler support and overhead analysis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920240" y="5166360"/>
            <a:ext cx="8321040" cy="594360"/>
          </a:xfrm>
          <a:prstGeom prst="roundRect">
            <a:avLst>
              <a:gd name="adj" fmla="val 9231"/>
            </a:avLst>
          </a:prstGeom>
          <a:solidFill>
            <a:srgbClr val="0E3B4C"/>
          </a:solidFill>
          <a:ln w="12700">
            <a:solidFill>
              <a:srgbClr val="0E3B4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2148840" y="5358384"/>
            <a:ext cx="7863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</a:rPr>
              <a:t>Optimal idea for variable workloads: reserve bandwidth, detect budget exhaustion, postpone deadlines only when needed.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502920" y="6446520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</a:rPr>
              <a:t>Handling Execution Overruns • 10 min seminar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12</a:t>
            </a:fld>
            <a:endParaRPr lang="en-US"/>
          </a:p>
        </p:txBody>
      </p:sp>
      <p:sp>
        <p:nvSpPr>
          <p:cNvPr id="20" name="Text 13">
            <a:extLst>
              <a:ext uri="{FF2B5EF4-FFF2-40B4-BE49-F238E27FC236}">
                <a16:creationId xmlns:a16="http://schemas.microsoft.com/office/drawing/2014/main" id="{AB7BA03C-E18F-FF19-6F45-40F95876B460}"/>
              </a:ext>
            </a:extLst>
          </p:cNvPr>
          <p:cNvSpPr/>
          <p:nvPr/>
        </p:nvSpPr>
        <p:spPr>
          <a:xfrm>
            <a:off x="621792" y="608076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36878"/>
                </a:solidFill>
              </a:rPr>
              <a:t>Christian Percival • Hochschule Hamm-Lippstadt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2B3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Limitations, learning outcome, and discussion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21208" y="850392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36878"/>
                </a:solidFill>
              </a:rPr>
              <a:t>What this demo proves — and what it does not claim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111556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685800" y="1417320"/>
            <a:ext cx="5486400" cy="1920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550" dirty="0">
                <a:solidFill>
                  <a:srgbClr val="112B3C"/>
                </a:solidFill>
              </a:rPr>
              <a:t>The prototype is a simulation, not a kernel-level hard real-time scheduler.</a:t>
            </a:r>
            <a:endParaRPr lang="en-US" sz="1550" dirty="0"/>
          </a:p>
          <a:p>
            <a:pPr marL="152400" indent="-152400">
              <a:buSzPct val="100000"/>
              <a:buChar char="•"/>
            </a:pPr>
            <a:r>
              <a:rPr lang="en-US" sz="1550" dirty="0">
                <a:solidFill>
                  <a:srgbClr val="112B3C"/>
                </a:solidFill>
              </a:rPr>
              <a:t>Timing results depend on Python, Windows/Linux scheduling, CPU load, and OpenCV behavior.</a:t>
            </a:r>
            <a:endParaRPr lang="en-US" sz="1550" dirty="0"/>
          </a:p>
          <a:p>
            <a:pPr marL="152400" indent="-152400">
              <a:buSzPct val="100000"/>
              <a:buChar char="•"/>
            </a:pPr>
            <a:r>
              <a:rPr lang="en-US" sz="1550" dirty="0">
                <a:solidFill>
                  <a:srgbClr val="112B3C"/>
                </a:solidFill>
              </a:rPr>
              <a:t>A real system would need validated WCET, kernel support, and resource-sharing analysis.</a:t>
            </a:r>
            <a:endParaRPr lang="en-US" sz="1550" dirty="0"/>
          </a:p>
          <a:p>
            <a:pPr marL="152400" indent="-152400">
              <a:buSzPct val="100000"/>
              <a:buChar char="•"/>
            </a:pPr>
            <a:r>
              <a:rPr lang="en-US" sz="1550" dirty="0">
                <a:solidFill>
                  <a:srgbClr val="112B3C"/>
                </a:solidFill>
              </a:rPr>
              <a:t>But the demo clearly shows the tradeoff: WCET safety vs normal-case frequency vs adaptive handling.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6720840" y="14447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2B3C"/>
                </a:solidFill>
              </a:rPr>
              <a:t>Key references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720840" y="187452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112B3C"/>
                </a:solidFill>
              </a:rPr>
              <a:t>[1] Caccamo, Buttazzo, Sha — Handling Execution Overruns in Hard Real-Time Control Systems, 2002</a:t>
            </a:r>
            <a:endParaRPr lang="en-US" sz="1120" dirty="0"/>
          </a:p>
        </p:txBody>
      </p:sp>
      <p:sp>
        <p:nvSpPr>
          <p:cNvPr id="8" name="Text 6"/>
          <p:cNvSpPr/>
          <p:nvPr/>
        </p:nvSpPr>
        <p:spPr>
          <a:xfrm>
            <a:off x="6720840" y="237744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112B3C"/>
                </a:solidFill>
              </a:rPr>
              <a:t>[2] Buttazzo — Hard Real-Time Computing Systems, 4th ed., 2024</a:t>
            </a:r>
            <a:endParaRPr lang="en-US" sz="1120" dirty="0"/>
          </a:p>
        </p:txBody>
      </p:sp>
      <p:sp>
        <p:nvSpPr>
          <p:cNvPr id="9" name="Text 7"/>
          <p:cNvSpPr/>
          <p:nvPr/>
        </p:nvSpPr>
        <p:spPr>
          <a:xfrm>
            <a:off x="6720840" y="288036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112B3C"/>
                </a:solidFill>
              </a:rPr>
              <a:t>[3] Abeni &amp; Buttazzo — Constant Bandwidth Server, RTSS 1998</a:t>
            </a:r>
            <a:endParaRPr lang="en-US" sz="1120" dirty="0"/>
          </a:p>
        </p:txBody>
      </p:sp>
      <p:sp>
        <p:nvSpPr>
          <p:cNvPr id="10" name="Text 8"/>
          <p:cNvSpPr/>
          <p:nvPr/>
        </p:nvSpPr>
        <p:spPr>
          <a:xfrm>
            <a:off x="6720840" y="338328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112B3C"/>
                </a:solidFill>
              </a:rPr>
              <a:t>[4] Liu &amp; Layland — EDF and scheduling foundations, 1973</a:t>
            </a:r>
            <a:endParaRPr lang="en-US" sz="1120" dirty="0"/>
          </a:p>
        </p:txBody>
      </p:sp>
      <p:sp>
        <p:nvSpPr>
          <p:cNvPr id="11" name="Shape 9"/>
          <p:cNvSpPr/>
          <p:nvPr/>
        </p:nvSpPr>
        <p:spPr>
          <a:xfrm>
            <a:off x="1463040" y="4389120"/>
            <a:ext cx="9326880" cy="731520"/>
          </a:xfrm>
          <a:prstGeom prst="roundRect">
            <a:avLst>
              <a:gd name="adj" fmla="val 7500"/>
            </a:avLst>
          </a:prstGeom>
          <a:solidFill>
            <a:srgbClr val="E6F4F7"/>
          </a:solidFill>
          <a:ln w="12700">
            <a:solidFill>
              <a:srgbClr val="BAE6F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1691640" y="4590288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3B4C"/>
                </a:solidFill>
              </a:rPr>
              <a:t>Final takeaway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429000" y="4553712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12B3C"/>
                </a:solidFill>
              </a:rPr>
              <a:t>Overruns are not eliminated; they are isolated and accounted for so that timing behavior stays controlled.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2920" y="6446520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</a:rPr>
              <a:t>Questions?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296</TotalTime>
  <Words>1200</Words>
  <Application>Microsoft Office PowerPoint</Application>
  <PresentationFormat>Widescreen</PresentationFormat>
  <Paragraphs>199</Paragraphs>
  <Slides>13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Hochschule Hamm-Lippstadt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Handling Execution Overruns Seminar Presentation</dc:title>
  <dc:subject>Handling Execution Overruns in Hard Real-Time Control Systems</dc:subject>
  <dc:creator>Christian Percival</dc:creator>
  <cp:lastModifiedBy>Christian Percival</cp:lastModifiedBy>
  <cp:revision>4</cp:revision>
  <dcterms:created xsi:type="dcterms:W3CDTF">2026-06-16T13:34:43Z</dcterms:created>
  <dcterms:modified xsi:type="dcterms:W3CDTF">2026-06-16T18:59:28Z</dcterms:modified>
</cp:coreProperties>
</file>